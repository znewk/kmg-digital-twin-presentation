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89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27100"/>
            <a:ext cx="67922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30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АРХИТЕКТУРНО-ТЕХНИЧЕСКИЙ КОМИТЕТ</a:t>
            </a:r>
            <a:endParaRPr lang="en-US" sz="18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5327" y="927100"/>
            <a:ext cx="1108273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848695"/>
            <a:ext cx="15893415" cy="165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7"/>
              </a:lnSpc>
              <a:buNone/>
            </a:pPr>
            <a:r>
              <a:rPr lang="en-US" sz="5700" b="1" spc="-85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двойники месторождения на базе ИС «ABAI» с применением ИИ</a:t>
            </a:r>
            <a:endParaRPr lang="en-US" sz="5700" dirty="0"/>
          </a:p>
        </p:txBody>
      </p:sp>
      <p:sp>
        <p:nvSpPr>
          <p:cNvPr id="6" name="Shape 3"/>
          <p:cNvSpPr/>
          <p:nvPr/>
        </p:nvSpPr>
        <p:spPr>
          <a:xfrm>
            <a:off x="914400" y="5793780"/>
            <a:ext cx="1143000" cy="476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6089055"/>
            <a:ext cx="14668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внедрения на 12 приоритетных активах · 7 ДЗО АО НК «КазМунайГаз»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14400" y="8743950"/>
            <a:ext cx="164592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9042400"/>
            <a:ext cx="28553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9385300"/>
            <a:ext cx="285533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НК «КазМунайГаз»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338961" y="9042400"/>
            <a:ext cx="5538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ПРОГРАММНОГО ПРОДУКТА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38961" y="9385300"/>
            <a:ext cx="5538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288316" y="9042400"/>
            <a:ext cx="3158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ПРОГРАММЫ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288316" y="9385300"/>
            <a:ext cx="315853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15,03 млрд ₸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Мандат и цели программы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400" y="1314450"/>
            <a:ext cx="164592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04975"/>
            <a:ext cx="867537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11375"/>
            <a:ext cx="25400" cy="15970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6" name="Text 4"/>
          <p:cNvSpPr/>
          <p:nvPr/>
        </p:nvSpPr>
        <p:spPr>
          <a:xfrm>
            <a:off x="1187450" y="2111375"/>
            <a:ext cx="7842060" cy="1317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Послание Главы государства Касым-Жомарта Токаева народу Казахстана «Казахстан в эпоху искусственного интеллекта: актуальные задачи и их решения через цифровую трансформацию»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7450" y="3467100"/>
            <a:ext cx="837501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сентября 2025 года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898900"/>
            <a:ext cx="25400" cy="1518444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9" name="Text 7"/>
          <p:cNvSpPr/>
          <p:nvPr/>
        </p:nvSpPr>
        <p:spPr>
          <a:xfrm>
            <a:off x="1187450" y="3898900"/>
            <a:ext cx="7842060" cy="99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внедрения практических решений в области искусственного интеллекта в производственные процессы АО НК «КазМунайГаз»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7450" y="4934744"/>
            <a:ext cx="78420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Утверждена протоколом Совета директоров АО НК «КазМунайГаз» от 4 декабря 2025 года №21/2025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5607844"/>
            <a:ext cx="25400" cy="1518444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7450" y="5607844"/>
            <a:ext cx="7842060" cy="99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2.13 «Обеспечить поэтапное внедрение цифровых двойников на ключевых энергетических объектах с обязательным соблюдением требований информационной и кибербезопасности»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7450" y="6643688"/>
            <a:ext cx="78420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Протокольное поручение заседания расширенной коллегии Министерства энергетики от 27 февраля 2026 года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1704975"/>
            <a:ext cx="867537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ПРОГРАММЫ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86900" y="2149475"/>
            <a:ext cx="8123301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единой цифровой платформы управления производственными активами Группы компаний АО НК «КазМунайГаз» путём внедрения комплекса взаимосвязанных решений класса «Цифровой двойник» на 12 приоритетных производственных активах с возможностью последующего тиражирования на другие активы Компании.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86900" y="5235575"/>
            <a:ext cx="7886700" cy="345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486900" y="5235575"/>
            <a:ext cx="78867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5502275"/>
            <a:ext cx="80886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СТРОИТСЯ ВОКРУГ ИС «ABAI»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53600" y="5832475"/>
            <a:ext cx="7573899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14"/>
              </a:lnSpc>
              <a:buNone/>
            </a:pPr>
            <a:r>
              <a:rPr lang="en-US" sz="172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«ABAI» остаётся корпоративным учётным ядром Группы компаний и системой ведения первичного производственного и технологического учёта. Комплекс цифрового двойника обеспечивает расчётный и модельный контур: получает учётные и фактические данные из ИС «ABAI», выполняет моделирование и оптимизацию с применением технологий ИИ и возвращает расчётные результаты для использования в производственном планировании и отчётности.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14400" y="9404350"/>
            <a:ext cx="164592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1" name="Text 19"/>
          <p:cNvSpPr/>
          <p:nvPr/>
        </p:nvSpPr>
        <p:spPr>
          <a:xfrm>
            <a:off x="17160876" y="9588500"/>
            <a:ext cx="2889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1860804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Предпроектный анализ: выявленная проблематика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996950"/>
            <a:ext cx="186080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 обследования цепочки КЦ — КМГИ — ЭМГ (по отчёту «ENROX OIL &amp; GAS FIELDS SERVICES - FZCO» от 09.07.2026)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85800" y="1409700"/>
            <a:ext cx="169164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ГРР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38200" y="2181225"/>
            <a:ext cx="3045216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Отрицательная динамика восполняемости запасов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744788"/>
            <a:ext cx="3045216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 развития методологии формирования портфеля проектов ГРР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3552031"/>
            <a:ext cx="3045216" cy="162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ответственности за результат ПРБ требует уточнения на уровне ролей, KPI и механизмов принятия решений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838200" y="5211763"/>
            <a:ext cx="3045216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концептуальных моделей не всегда учитываются при построении оперативных геологических моделей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4099520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099520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20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Геология и разработка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4251920" y="2181225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ГДМ не являются достоверным источником для подбора ГТМ в глазах ЭМГ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4251920" y="3313113"/>
            <a:ext cx="3045216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ГГДМ не обновляется по факту бурения скважин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251920" y="3917156"/>
            <a:ext cx="3045216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от достигнутого, а не от потенциала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51920" y="4724400"/>
            <a:ext cx="3045216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не используются для проектирования скважин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13241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513241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1" name="Text 19"/>
          <p:cNvSpPr/>
          <p:nvPr/>
        </p:nvSpPr>
        <p:spPr>
          <a:xfrm>
            <a:off x="7665641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Бурение и ВСР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7665641" y="2181225"/>
            <a:ext cx="3045216" cy="1256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управляемость сроками, стоимостью и анализом строительства скважин вследствие контрактования под ключ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65641" y="3475831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ТКРС на ПРС и КРС ограничивает оптимизацию графика движения бригад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7665641" y="4607719"/>
            <a:ext cx="3045216" cy="82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бурения слабо учитываются в ТКРС, результаты ТКРС — в добыче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0926961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6961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7" name="Text 25"/>
          <p:cNvSpPr/>
          <p:nvPr/>
        </p:nvSpPr>
        <p:spPr>
          <a:xfrm>
            <a:off x="11079361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Добыча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1079361" y="2181225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процессов интегрированного моделирования и планирования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79361" y="3232150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автоматического план-факт анализа ГТМ: эффект от ГРП считается постфактум в Excel с ошибками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079361" y="4283075"/>
            <a:ext cx="3045216" cy="82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 объём ежедневной ручной работы по подготовке отчётности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4340682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340682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3" name="Text 31"/>
          <p:cNvSpPr/>
          <p:nvPr/>
        </p:nvSpPr>
        <p:spPr>
          <a:xfrm>
            <a:off x="14493082" y="1838325"/>
            <a:ext cx="30452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и наземная инфраструктура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4493082" y="2447925"/>
            <a:ext cx="3045216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процесс концептуального инжиниринга; при отказе КМГИ от небольших проектов они затягиваются более 6 месяцев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493082" y="3986213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бизнес-плана идёт без гидравлических расчётов и учёта модели наземной инфраструктуры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4493082" y="5118100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Концептуальное проектирование без опоры на ГГДМ и базу оптимальных технических решений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6927453"/>
            <a:ext cx="16916400" cy="7747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7060803"/>
            <a:ext cx="16966692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вывод: отсутствует единый методологический слой и единый слой хранения, обработки и аналитики данных для автоматизированного обмена между службами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85800" y="7835503"/>
            <a:ext cx="169164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7943454"/>
            <a:ext cx="186080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90" kern="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СОКРАЩЕНИЯ И ОПРЕДЕЛЕНИЯ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6858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ВНС — ввод новых скважин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911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ГРП — гидравлический разрыв пласта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964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— капитальное строительство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6017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ПРС — подземный ремонт скважин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ВСР — внутрискважинные работы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911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ГРР — геологоразведочные работы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964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КХД — корпоративное хранилище данных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6017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ТКРС — текущий и капитальный ремонт скважин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ГГДМ — геолого-гидродинамическая модель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911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ГТМ — геолого-технические мероприятия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964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НПВ — непроизводительное время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6017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— цифровой двойник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ГДМ — гидродинамическая модель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911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ДЗО — дочерние и зависимые организации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964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НСИ — нормативно-справочная информация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36017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 — корпоративная интеграционная шина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 — геофизические исследования скважин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911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 — коэффициент извлечения нефти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2964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ППД — поддержание пластового давления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36017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— система управления НСИ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858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ГНО — глубинно-насосное оборудование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911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КРС — капитальный ремонт скважин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2964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ПРБ — поисково-разведочное бурение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6017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— индекс доходности проекта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5800" y="9671050"/>
            <a:ext cx="169164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" y="9779001"/>
            <a:ext cx="572922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отчёт «ENROX OIL &amp; GAS FIELDS SERVICES - FZCO»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7388086" y="9779001"/>
            <a:ext cx="29031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5697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инженерный ИТ-ландшафт цепочки КЦ — КМГИ — ЭМГ нуждается в пересборке более чем на 50%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5049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Согласно предлагаемой концепции цифрового двойника актива Молдабек В.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8796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ГЕОЛОГОРАЗВЕДКА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9600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HampsonRussell, Saphir · tNavigator · PVTi/PVTSim · ProSource · Eclipse · Techlog · Petrel · CoreDraw · Spark, Kingdom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09600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700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49911" y="2117725"/>
            <a:ext cx="36378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ГЕОЛОГИЯ И РАЗРАБОТКА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049911" y="2435225"/>
            <a:ext cx="3307159" cy="4436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04991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14" name="Text 12"/>
          <p:cNvSpPr/>
          <p:nvPr/>
        </p:nvSpPr>
        <p:spPr>
          <a:xfrm>
            <a:off x="4227711" y="2568575"/>
            <a:ext cx="3076174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Жулдыз · OFM · ABAI. ПиАЭГТМ и Центр визуализации · Qportal, QAZSTAT, Самрук-Казына, ЦОН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049911" y="6948091"/>
            <a:ext cx="3307159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5011" y="7056041"/>
            <a:ext cx="3076174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0421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И НАЗЕМНАЯ ИНФР-РА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90421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042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68221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SAP, AVR, E-PASS, Lotus Notes · eQurylys, eLicense · SAS FM · ABC-4 · AutoCAD · PIPESIM · UniSim · Questor · Directum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90421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5521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30732" y="2117725"/>
            <a:ext cx="36378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БУРЕНИЕ И ТКРС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930732" y="2435225"/>
            <a:ext cx="3307159" cy="4436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0732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6" name="Text 24"/>
          <p:cNvSpPr/>
          <p:nvPr/>
        </p:nvSpPr>
        <p:spPr>
          <a:xfrm>
            <a:off x="11108532" y="2568575"/>
            <a:ext cx="3076174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Sysdrill · tNavigator, Landmark · Solo box, DrillSpot, PELOTON · StarSteer · ДЭЛ-140/150 · WellPlan · СУ ШГН · ЕКПД · ABP+ · АСРПРС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930732" y="6948091"/>
            <a:ext cx="3307159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95832" y="7056041"/>
            <a:ext cx="3076174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371241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ДОБЫЧА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371241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1437124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32" name="Text 30"/>
          <p:cNvSpPr/>
          <p:nvPr/>
        </p:nvSpPr>
        <p:spPr>
          <a:xfrm>
            <a:off x="14549041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 · ABAI (учёт добычи, техрежимы, паспорта ГНО) · Greendata · СДМО Мирол · ИМ (Интеллектуальное месторождение) · АСКУЭ/АСТУЭ · SAP ERP ТОРО · SCADA (WinCC, DeltaV) · Directum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4371241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6341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09600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единый интеграционный слой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4049911" y="7818041"/>
            <a:ext cx="3307159" cy="1586309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8" name="Text 36"/>
          <p:cNvSpPr/>
          <p:nvPr/>
        </p:nvSpPr>
        <p:spPr>
          <a:xfrm>
            <a:off x="4202311" y="7951391"/>
            <a:ext cx="3101574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 не автоматизирован ввод информации в инженерные системы по всей цепочке Upstream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7490421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0" name="Text 38"/>
          <p:cNvSpPr/>
          <p:nvPr/>
        </p:nvSpPr>
        <p:spPr>
          <a:xfrm>
            <a:off x="7642821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гранулярность ИТ-ландшафта по каждому из направлений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0930732" y="7818041"/>
            <a:ext cx="3307159" cy="1586309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2" name="Text 40"/>
          <p:cNvSpPr/>
          <p:nvPr/>
        </p:nvSpPr>
        <p:spPr>
          <a:xfrm>
            <a:off x="11083132" y="7951391"/>
            <a:ext cx="3101574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 через Outlook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14371241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4" name="Text 42"/>
          <p:cNvSpPr/>
          <p:nvPr/>
        </p:nvSpPr>
        <p:spPr>
          <a:xfrm>
            <a:off x="14523641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Первичный ввод одних и тех же данных в разные системы с различными значениями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609600" y="95567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6" name="Text 44"/>
          <p:cNvSpPr/>
          <p:nvPr/>
        </p:nvSpPr>
        <p:spPr>
          <a:xfrm>
            <a:off x="609600" y="9702800"/>
            <a:ext cx="572922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отчёт «ENROX OIL &amp; GAS FIELDS SERVICES - FZCO»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7459325" y="9702800"/>
            <a:ext cx="295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Предпроектный анализ: сравнение специализированных решений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9842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Сравнительная оценка 11 программных решений мирового рынка по 17 критериям · баллы 1–5 с весами, максимум 500 · данные открытых источников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37795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597025"/>
            <a:ext cx="1022145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ВЗВЕШЕННАЯ ОЦЕНКА (МАКС. 500)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09600" y="3561159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Nedra Digital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3124200" y="353258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8" name="Shape 6"/>
          <p:cNvSpPr/>
          <p:nvPr/>
        </p:nvSpPr>
        <p:spPr>
          <a:xfrm>
            <a:off x="3124200" y="3532584"/>
            <a:ext cx="5624314" cy="28575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9" name="Text 7"/>
          <p:cNvSpPr/>
          <p:nvPr/>
        </p:nvSpPr>
        <p:spPr>
          <a:xfrm>
            <a:off x="9216033" y="3561159"/>
            <a:ext cx="685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609600" y="3907234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24200" y="3885009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124200" y="3885009"/>
            <a:ext cx="4839692" cy="285750"/>
          </a:xfrm>
          <a:prstGeom prst="rect">
            <a:avLst/>
          </a:prstGeom>
          <a:solidFill>
            <a:srgbClr val="8FA9BF"/>
          </a:solidFill>
          <a:ln/>
        </p:spPr>
      </p:sp>
      <p:sp>
        <p:nvSpPr>
          <p:cNvPr id="13" name="Text 11"/>
          <p:cNvSpPr/>
          <p:nvPr/>
        </p:nvSpPr>
        <p:spPr>
          <a:xfrm>
            <a:off x="9216033" y="3907234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259659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Seeq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24200" y="423743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4200" y="4237434"/>
            <a:ext cx="4670822" cy="285750"/>
          </a:xfrm>
          <a:prstGeom prst="rect">
            <a:avLst/>
          </a:prstGeom>
          <a:solidFill>
            <a:srgbClr val="8FA9BF"/>
          </a:solidFill>
          <a:ln/>
        </p:spPr>
      </p:sp>
      <p:sp>
        <p:nvSpPr>
          <p:cNvPr id="17" name="Text 15"/>
          <p:cNvSpPr/>
          <p:nvPr/>
        </p:nvSpPr>
        <p:spPr>
          <a:xfrm>
            <a:off x="9216033" y="4259659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612084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24200" y="4589859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124200" y="4589859"/>
            <a:ext cx="4622403" cy="285750"/>
          </a:xfrm>
          <a:prstGeom prst="rect">
            <a:avLst/>
          </a:prstGeom>
          <a:solidFill>
            <a:srgbClr val="8FA9BF"/>
          </a:solidFill>
          <a:ln/>
        </p:spPr>
      </p:sp>
      <p:sp>
        <p:nvSpPr>
          <p:cNvPr id="21" name="Text 19"/>
          <p:cNvSpPr/>
          <p:nvPr/>
        </p:nvSpPr>
        <p:spPr>
          <a:xfrm>
            <a:off x="9216033" y="4612084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600" y="4964510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AspenTech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24200" y="494228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124200" y="4942284"/>
            <a:ext cx="4477544" cy="285750"/>
          </a:xfrm>
          <a:prstGeom prst="rect">
            <a:avLst/>
          </a:prstGeom>
          <a:solidFill>
            <a:srgbClr val="8FA9BF"/>
          </a:solidFill>
          <a:ln/>
        </p:spPr>
      </p:sp>
      <p:sp>
        <p:nvSpPr>
          <p:cNvPr id="25" name="Text 23"/>
          <p:cNvSpPr/>
          <p:nvPr/>
        </p:nvSpPr>
        <p:spPr>
          <a:xfrm>
            <a:off x="9216033" y="4964510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9600" y="5316935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Halliburton DS365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124200" y="5294709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124200" y="5294709"/>
            <a:ext cx="4417219" cy="285750"/>
          </a:xfrm>
          <a:prstGeom prst="rect">
            <a:avLst/>
          </a:prstGeom>
          <a:solidFill>
            <a:srgbClr val="8FA9BF"/>
          </a:solidFill>
          <a:ln/>
        </p:spPr>
      </p:sp>
      <p:sp>
        <p:nvSpPr>
          <p:cNvPr id="29" name="Text 27"/>
          <p:cNvSpPr/>
          <p:nvPr/>
        </p:nvSpPr>
        <p:spPr>
          <a:xfrm>
            <a:off x="9216033" y="5316935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9600" y="5669360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124200" y="564713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2" name="Shape 30"/>
          <p:cNvSpPr/>
          <p:nvPr/>
        </p:nvSpPr>
        <p:spPr>
          <a:xfrm>
            <a:off x="3124200" y="5647134"/>
            <a:ext cx="4272360" cy="285750"/>
          </a:xfrm>
          <a:prstGeom prst="rect">
            <a:avLst/>
          </a:prstGeom>
          <a:solidFill>
            <a:srgbClr val="B9CBDA"/>
          </a:solidFill>
          <a:ln/>
        </p:spPr>
      </p:sp>
      <p:sp>
        <p:nvSpPr>
          <p:cNvPr id="33" name="Text 31"/>
          <p:cNvSpPr/>
          <p:nvPr/>
        </p:nvSpPr>
        <p:spPr>
          <a:xfrm>
            <a:off x="9216033" y="5669360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9600" y="6021785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124200" y="5999559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6" name="Shape 34"/>
          <p:cNvSpPr/>
          <p:nvPr/>
        </p:nvSpPr>
        <p:spPr>
          <a:xfrm>
            <a:off x="3124200" y="5999559"/>
            <a:ext cx="4236244" cy="285750"/>
          </a:xfrm>
          <a:prstGeom prst="rect">
            <a:avLst/>
          </a:prstGeom>
          <a:solidFill>
            <a:srgbClr val="B9CBDA"/>
          </a:solidFill>
          <a:ln/>
        </p:spPr>
      </p:sp>
      <p:sp>
        <p:nvSpPr>
          <p:cNvPr id="37" name="Text 35"/>
          <p:cNvSpPr/>
          <p:nvPr/>
        </p:nvSpPr>
        <p:spPr>
          <a:xfrm>
            <a:off x="9216033" y="6021785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09600" y="6374210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SLB Delfi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124200" y="635198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0" name="Shape 38"/>
          <p:cNvSpPr/>
          <p:nvPr/>
        </p:nvSpPr>
        <p:spPr>
          <a:xfrm>
            <a:off x="3124200" y="6351984"/>
            <a:ext cx="3874096" cy="285750"/>
          </a:xfrm>
          <a:prstGeom prst="rect">
            <a:avLst/>
          </a:prstGeom>
          <a:solidFill>
            <a:srgbClr val="B9CBDA"/>
          </a:solidFill>
          <a:ln/>
        </p:spPr>
      </p:sp>
      <p:sp>
        <p:nvSpPr>
          <p:cNvPr id="41" name="Text 39"/>
          <p:cNvSpPr/>
          <p:nvPr/>
        </p:nvSpPr>
        <p:spPr>
          <a:xfrm>
            <a:off x="9216033" y="6374210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09600" y="6726635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Honeywell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124200" y="6704409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4" name="Shape 42"/>
          <p:cNvSpPr/>
          <p:nvPr/>
        </p:nvSpPr>
        <p:spPr>
          <a:xfrm>
            <a:off x="3124200" y="6704409"/>
            <a:ext cx="3789759" cy="285750"/>
          </a:xfrm>
          <a:prstGeom prst="rect">
            <a:avLst/>
          </a:prstGeom>
          <a:solidFill>
            <a:srgbClr val="B9CBDA"/>
          </a:solidFill>
          <a:ln/>
        </p:spPr>
      </p:sp>
      <p:sp>
        <p:nvSpPr>
          <p:cNvPr id="45" name="Text 43"/>
          <p:cNvSpPr/>
          <p:nvPr/>
        </p:nvSpPr>
        <p:spPr>
          <a:xfrm>
            <a:off x="9216033" y="6726635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09600" y="7079060"/>
            <a:ext cx="26193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Cognite DF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124200" y="7056834"/>
            <a:ext cx="6034683" cy="2857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8" name="Shape 46"/>
          <p:cNvSpPr/>
          <p:nvPr/>
        </p:nvSpPr>
        <p:spPr>
          <a:xfrm>
            <a:off x="3124200" y="7056834"/>
            <a:ext cx="3487936" cy="285750"/>
          </a:xfrm>
          <a:prstGeom prst="rect">
            <a:avLst/>
          </a:prstGeom>
          <a:solidFill>
            <a:srgbClr val="B9CBDA"/>
          </a:solidFill>
          <a:ln/>
        </p:spPr>
      </p:sp>
      <p:sp>
        <p:nvSpPr>
          <p:cNvPr id="49" name="Text 47"/>
          <p:cNvSpPr/>
          <p:nvPr/>
        </p:nvSpPr>
        <p:spPr>
          <a:xfrm>
            <a:off x="9216033" y="7079060"/>
            <a:ext cx="6858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09600" y="9074944"/>
            <a:ext cx="9571000" cy="50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критерии с весом 10%: покрытие Upstream · единая платформа данных · локальное развёртывание · стоимость владения (TCO, 5 лет) · vendor lock-in · ИБ и хранение данных в РК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244733" y="1597025"/>
            <a:ext cx="817703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 ВЫБОРА NEDRA DIGITAL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10244733" y="1895475"/>
            <a:ext cx="7433667" cy="98286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44733" y="1895475"/>
            <a:ext cx="25400" cy="982861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54" name="Text 52"/>
          <p:cNvSpPr/>
          <p:nvPr/>
        </p:nvSpPr>
        <p:spPr>
          <a:xfrm>
            <a:off x="10422533" y="2009775"/>
            <a:ext cx="7326477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покрытие Upstream </a:t>
            </a:r>
            <a:pPr algn="l" indent="0" marL="0">
              <a:lnSpc>
                <a:spcPct val="116471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все ключевые процессы разведки и добычи в рамках единой платформы, что соответствует целевой модели на 12 активах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0244733" y="2973586"/>
            <a:ext cx="7433667" cy="73144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44733" y="2973586"/>
            <a:ext cx="25400" cy="731441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57" name="Text 55"/>
          <p:cNvSpPr/>
          <p:nvPr/>
        </p:nvSpPr>
        <p:spPr>
          <a:xfrm>
            <a:off x="10422533" y="3087886"/>
            <a:ext cx="7326477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модульная архитектура </a:t>
            </a:r>
            <a:pPr algn="l" indent="0" marL="0">
              <a:lnSpc>
                <a:spcPct val="116471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общие механизмы хранения, обработки и интеграции данных вместо набора независимых продуктов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244733" y="3800277"/>
            <a:ext cx="7433667" cy="98286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9" name="Shape 57"/>
          <p:cNvSpPr/>
          <p:nvPr/>
        </p:nvSpPr>
        <p:spPr>
          <a:xfrm>
            <a:off x="10244733" y="3800277"/>
            <a:ext cx="25400" cy="982861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60" name="Text 58"/>
          <p:cNvSpPr/>
          <p:nvPr/>
        </p:nvSpPr>
        <p:spPr>
          <a:xfrm>
            <a:off x="10422533" y="3914577"/>
            <a:ext cx="7326477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Локальное развёртывание и ИБ </a:t>
            </a:r>
            <a:pPr algn="l" indent="0" marL="0">
              <a:lnSpc>
                <a:spcPct val="116471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работа без передачи данных за рубеж, соответствие требованиям законодательства РК; облачные аналоги (Delfi, Cognite, Honeywell Forge) этому требованию не отвечают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0244733" y="4878388"/>
            <a:ext cx="7433667" cy="98286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44733" y="4878388"/>
            <a:ext cx="25400" cy="982861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63" name="Text 61"/>
          <p:cNvSpPr/>
          <p:nvPr/>
        </p:nvSpPr>
        <p:spPr>
          <a:xfrm>
            <a:off x="10422533" y="4992688"/>
            <a:ext cx="7326477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владения </a:t>
            </a:r>
            <a:pPr algn="l" indent="0" marL="0">
              <a:lnSpc>
                <a:spcPct val="116471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при сопоставимом покрытии функций TCO ниже зарубежных аналогов; локализация интерфейса и поддержки снижает издержки внедрения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244733" y="5956499"/>
            <a:ext cx="7433667" cy="98286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5" name="Shape 63"/>
          <p:cNvSpPr/>
          <p:nvPr/>
        </p:nvSpPr>
        <p:spPr>
          <a:xfrm>
            <a:off x="10244733" y="5956499"/>
            <a:ext cx="25400" cy="982861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66" name="Text 64"/>
          <p:cNvSpPr/>
          <p:nvPr/>
        </p:nvSpPr>
        <p:spPr>
          <a:xfrm>
            <a:off x="10422533" y="6070799"/>
            <a:ext cx="7326477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эксплуатации KMG Digital </a:t>
            </a:r>
            <a:pPr algn="l" indent="0" marL="0">
              <a:lnSpc>
                <a:spcPct val="116471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приобретение по лицензионным договорам, постановка на баланс ТОО «KMG Digital», централизованное сопровождение и тиражирование из единого центра компетенций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09600" y="96710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68" name="Text 66"/>
          <p:cNvSpPr/>
          <p:nvPr/>
        </p:nvSpPr>
        <p:spPr>
          <a:xfrm>
            <a:off x="609600" y="9779001"/>
            <a:ext cx="577266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заявка на АТК, раздел 3.1 «Предпроектный анализ»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17468454" y="9779001"/>
            <a:ext cx="28614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Концептуальная архитектура Цифрового двойника актива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10604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Согласно предлагаемой концепции цифрового двойника актива Молдабек В.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4351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654175"/>
            <a:ext cx="13639800" cy="6096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" y="1825625"/>
            <a:ext cx="6728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6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ПЛАТФОРМА: ЦИФРОВОЙ ДВОЙНИК АКТИВА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1452225" y="1787525"/>
            <a:ext cx="119737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04625" y="1844675"/>
            <a:ext cx="9687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AI-агенты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2744848" y="1787525"/>
            <a:ext cx="1295003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897248" y="1844675"/>
            <a:ext cx="10664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09600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13" name="Text 11"/>
          <p:cNvSpPr/>
          <p:nvPr/>
        </p:nvSpPr>
        <p:spPr>
          <a:xfrm>
            <a:off x="781050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ПЛАСТА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81050" y="2876550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бизнес-кейсов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81050" y="3207147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 месторождения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050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от потенциала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050" y="3846909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t-Nav · ABAI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94300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194300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0" name="Text 18"/>
          <p:cNvSpPr/>
          <p:nvPr/>
        </p:nvSpPr>
        <p:spPr>
          <a:xfrm>
            <a:off x="5365750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СКВАЖИНЫ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65750" y="2876550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операций ТКРС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65750" y="3186906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ввода скважины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365750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бурения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79001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779001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6" name="Text 24"/>
          <p:cNvSpPr/>
          <p:nvPr/>
        </p:nvSpPr>
        <p:spPr>
          <a:xfrm>
            <a:off x="9950451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ДОБЫЧИ И НАЗЕМНОЙ ИНФР-РЫ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950451" y="2876550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Регулировка режима работы скважин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9950451" y="3207147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Энергоэффективность инфраструктуры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50451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технических мероприятий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50451" y="3846909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9600" y="4354909"/>
            <a:ext cx="13639800" cy="109855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4354909"/>
            <a:ext cx="38100" cy="109855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3" name="Text 31"/>
          <p:cNvSpPr/>
          <p:nvPr/>
        </p:nvSpPr>
        <p:spPr>
          <a:xfrm>
            <a:off x="857250" y="4507309"/>
            <a:ext cx="1450086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ДАННЫХ ЦИФРОВЫХ ДВОЙНИКОВ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57250" y="4843860"/>
            <a:ext cx="322421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3300" y="4951810"/>
            <a:ext cx="302883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4176712" y="4843860"/>
            <a:ext cx="322421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2762" y="4951810"/>
            <a:ext cx="302883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7496175" y="4843860"/>
            <a:ext cx="322421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2225" y="4951810"/>
            <a:ext cx="302883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0815638" y="4843860"/>
            <a:ext cx="322421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61687" y="4951810"/>
            <a:ext cx="302883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 предоставление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609600" y="5567760"/>
            <a:ext cx="7889677" cy="13924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3" name="Text 41"/>
          <p:cNvSpPr/>
          <p:nvPr/>
        </p:nvSpPr>
        <p:spPr>
          <a:xfrm>
            <a:off x="781050" y="5701110"/>
            <a:ext cx="83014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Производственные системы ЭМГ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781050" y="5986860"/>
            <a:ext cx="777318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Интеллектуальное месторождение · Система контроля за соблюдением требований ТБ и ОС · Система управления проектами КС · Система прогнозирования финансовых и производственных показателей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8613577" y="5567760"/>
            <a:ext cx="5635625" cy="13924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6" name="Text 44"/>
          <p:cNvSpPr/>
          <p:nvPr/>
        </p:nvSpPr>
        <p:spPr>
          <a:xfrm>
            <a:off x="8785027" y="6143229"/>
            <a:ext cx="145353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MES-система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609600" y="7074496"/>
            <a:ext cx="13639800" cy="1112441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8" name="Text 46"/>
          <p:cNvSpPr/>
          <p:nvPr/>
        </p:nvSpPr>
        <p:spPr>
          <a:xfrm>
            <a:off x="819150" y="7207846"/>
            <a:ext cx="145427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63" kern="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ОБЩЕКОРПОРАТИВНЫХ БАЗ ДАННЫХ — ВСЕ ДАННЫЕ КОМПАНИИ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819150" y="7493596"/>
            <a:ext cx="13617321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Корпоративное хранилище данных КМГ (КХД) · Общекорпоративные системы КМГ (ERP, закупки и др.) · КУУН · Системы диспетчерского управления и сбора данных технологических процессов: ИСУ, АГЗУ, ВРП, АСУ ТП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4439900" y="1654175"/>
            <a:ext cx="3238500" cy="16160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39900" y="1654175"/>
            <a:ext cx="25400" cy="161607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52" name="Text 50"/>
          <p:cNvSpPr/>
          <p:nvPr/>
        </p:nvSpPr>
        <p:spPr>
          <a:xfrm>
            <a:off x="14617700" y="1787525"/>
            <a:ext cx="3005455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аналитики и принятия решений — модель физического объекта и его процессов в цифровом пространстве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4439900" y="3365500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52"/>
          <p:cNvSpPr/>
          <p:nvPr/>
        </p:nvSpPr>
        <p:spPr>
          <a:xfrm>
            <a:off x="14439900" y="3365500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55" name="Text 53"/>
          <p:cNvSpPr/>
          <p:nvPr/>
        </p:nvSpPr>
        <p:spPr>
          <a:xfrm>
            <a:off x="14617700" y="3498850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актива строится на основе данных ЦД по направлениям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14439900" y="4537075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7" name="Shape 55"/>
          <p:cNvSpPr/>
          <p:nvPr/>
        </p:nvSpPr>
        <p:spPr>
          <a:xfrm>
            <a:off x="14439900" y="4537075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58" name="Text 56"/>
          <p:cNvSpPr/>
          <p:nvPr/>
        </p:nvSpPr>
        <p:spPr>
          <a:xfrm>
            <a:off x="14617700" y="4670425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по направлениям обмениваются данными через слой данных ЦД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4439900" y="5708650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0" name="Shape 58"/>
          <p:cNvSpPr/>
          <p:nvPr/>
        </p:nvSpPr>
        <p:spPr>
          <a:xfrm>
            <a:off x="14439900" y="5708650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61" name="Text 59"/>
          <p:cNvSpPr/>
          <p:nvPr/>
        </p:nvSpPr>
        <p:spPr>
          <a:xfrm>
            <a:off x="14617700" y="5842000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данных ЦД получает необходимые данные из КХД и ABAI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14439900" y="6880225"/>
            <a:ext cx="3238500" cy="1616075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3" name="Text 61"/>
          <p:cNvSpPr/>
          <p:nvPr/>
        </p:nvSpPr>
        <p:spPr>
          <a:xfrm>
            <a:off x="14592300" y="7013575"/>
            <a:ext cx="3030855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успешной реализации ЦД необходимо существенно дополнить слой аналитики и принятия решений и слой данных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609600" y="95567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65" name="Text 63"/>
          <p:cNvSpPr/>
          <p:nvPr/>
        </p:nvSpPr>
        <p:spPr>
          <a:xfrm>
            <a:off x="609600" y="9702800"/>
            <a:ext cx="423836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предложение по конфигурации ЦД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7463890" y="9702800"/>
            <a:ext cx="29071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04800"/>
            <a:ext cx="108086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наполнение контуров ЦД и ожидаемые эффекты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33400" y="838200"/>
            <a:ext cx="172212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6667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ЦД ГЕОЛОГОРАЗВЕДКИ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6667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−15% полный цикл ГРР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66750" y="1660525"/>
            <a:ext cx="5559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геолого-гидродинамическая модель, оценка запасов и приоритизация точек бурения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6750" y="2146300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221615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Геолого-гидродинамическая модель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построение и адаптация ГГДМ; модели ХВ и Кпрод по скважине · ABAI: Картопостроитель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6750" y="293112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" y="300097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Запасы и точки бурения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оценка ОИЗ, ЦРНС; ранжирование точек бурения и выбор системы разработки · ABAI: ЦРНС, ПДИМ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6750" y="371594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3785791"/>
            <a:ext cx="5559425" cy="915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Горизонты прогноза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оперативный (ГДМ низкого разрешения) · среднесрочный (ГДМ высокого разрешения, оптимизация ППД) · долгосрочный (интегрир. модель пласта и сети сбора) · ABAI: ПДИМ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119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19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52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ЦД ПЛАСТА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4452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−5% снижение CAPEX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445250" y="1660525"/>
            <a:ext cx="5559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Многовариантный выбор системы разработки и приоритизация ГТМ по экономике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5250" y="2146300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5250" y="221615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разработки и подбор мероприятий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оптимизация ППД (вкл. нестационарное заводнение); ПВЛГ/ПНЛГ, ГТМ · ABAI: УЗ, ПАЭГТМ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5250" y="293112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5250" y="300097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разработки, ВНС, ТЭО КИН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авто-выбор системы разработки на 2.5D/3D · оптимизация размещения фонда и заканчивания ГС/МГРП · ABAI: ЦРНС, ПДИМ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0904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904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6" name="Text 24"/>
          <p:cNvSpPr/>
          <p:nvPr/>
        </p:nvSpPr>
        <p:spPr>
          <a:xfrm>
            <a:off x="122237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ЦД СКВАЖИНЫ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2237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−3% длительность ВСР · −3% сроки вывода на режим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223750" y="1660525"/>
            <a:ext cx="59372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Сквозное планирование ТКРС и снижение простоев бригад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223750" y="1931988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0" name="Text 28"/>
          <p:cNvSpPr/>
          <p:nvPr/>
        </p:nvSpPr>
        <p:spPr>
          <a:xfrm>
            <a:off x="12223750" y="2001838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Онлайн-мониторинг бурения и сводки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мониторинг строительства скважин, база ранее проведённых работ · отслеживание совместных работ подрядчика и заказчика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2223750" y="2716808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2" name="Text 30"/>
          <p:cNvSpPr/>
          <p:nvPr/>
        </p:nvSpPr>
        <p:spPr>
          <a:xfrm>
            <a:off x="12223750" y="2786658"/>
            <a:ext cx="5559425" cy="476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мероприятий ГТМ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формирование графика ГТМ · выявление пересечений движения бригад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2223750" y="3282355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4" name="Text 32"/>
          <p:cNvSpPr/>
          <p:nvPr/>
        </p:nvSpPr>
        <p:spPr>
          <a:xfrm>
            <a:off x="12223750" y="3352205"/>
            <a:ext cx="5559425" cy="476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СТПА </a:t>
            </a:r>
            <a:pPr algn="l" indent="0" marL="0">
              <a:lnSpc>
                <a:spcPct val="115200"/>
              </a:lnSpc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оперативный контроль ремонта · интеграция с датчиками СТПА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33400" y="4891485"/>
            <a:ext cx="17221200" cy="43223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4"/>
          <p:cNvSpPr/>
          <p:nvPr/>
        </p:nvSpPr>
        <p:spPr>
          <a:xfrm>
            <a:off x="533400" y="4891485"/>
            <a:ext cx="172212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7" name="Text 35"/>
          <p:cNvSpPr/>
          <p:nvPr/>
        </p:nvSpPr>
        <p:spPr>
          <a:xfrm>
            <a:off x="666750" y="5043885"/>
            <a:ext cx="53208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ЦД ДОБЫЧИ И НАЗЕМНОЙ ИНФРАСТРУКТУРЫ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6689130" y="5069285"/>
            <a:ext cx="1202533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−13% ТРЗ⁺ на отклонениях режима · −15% ТРЗ⁺ на расчёты и ГТМ · −5% потери добычи · −3% энергозатраты · −3% CAPEX/OPEX инфр.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66750" y="5329635"/>
            <a:ext cx="186499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режимом фонда, минимизация потерь добычи, предиктивная надёжность и оптимизация наземной инфраструктуры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66750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4700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Скважины · ABAI: ТР, ПГНО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прогноз и контроль показателей добычи · выявление отклонений режима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4068961" y="5620147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6911" y="5699522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подбор низкорентабельных скважин под остановку (МРП, давление, добыча, ЭЭ) · онлайн-список кандидатов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7471371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9321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КНС и ППД · ABAI: УЗ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оценка износа насосов · расчёт объёмов неэффективной закачки (Профиль-Дизайны)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10873582" y="5620147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81532" y="5699522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Трубопроводы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онлайн-контроль текущих параметров · оперативное реагирование на изменение режимов работ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4275991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383941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Химизация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контроль дозировки УДР, нехватка химии в точках подачи · визуализация параметров БРХ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666750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4700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дашборд техн. параметров, идентификация отклонений · мнемосхема объектов подготовки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4068961" y="6638529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76911" y="6717903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диаграммы по профилям добычи и закачки, потокам CAPEX/OPEX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7471371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79321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Предиктивный анализ отказов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поиск аварийных участков напорного трубопровода (ML) · снижение рисков отказов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10873582" y="6638529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81532" y="6717903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Гидравлические расчёты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загрузка системы сбора (вязкость, лёгкие ГТМ) · загрузка системы ППД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4275991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383941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</a:t>
            </a:r>
            <a:pPr algn="l" indent="0" marL="0">
              <a:lnSpc>
                <a:spcPct val="105400"/>
              </a:lnSpc>
              <a:buNone/>
            </a:pP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расчёт потребления электроэнергии · расчёт электрических сетей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533400" y="9309100"/>
            <a:ext cx="17221200" cy="4064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1" name="Text 59"/>
          <p:cNvSpPr/>
          <p:nvPr/>
        </p:nvSpPr>
        <p:spPr>
          <a:xfrm>
            <a:off x="723900" y="9404350"/>
            <a:ext cx="1735683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СЛОЙ ДАННЫХ 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highlight>
                  <a:srgbClr val="0B2E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сквозная аналитика, интеграции и дашборды на единой дата-платформе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533400" y="9810750"/>
            <a:ext cx="172212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63" name="Text 61"/>
          <p:cNvSpPr/>
          <p:nvPr/>
        </p:nvSpPr>
        <p:spPr>
          <a:xfrm>
            <a:off x="533400" y="9899650"/>
            <a:ext cx="1361136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ТРЗ⁺ — трудозатраты · ВСР — внутрискважинные работы · ГТМ — геолого-технические мероприятия · УДР/БРХ — узлы дозирования реагентов / блоки реагентного хозяйства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7586325" y="9899650"/>
            <a:ext cx="2444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23850"/>
            <a:ext cx="18775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Программное обеспечение программы Цифрового двойника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8382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962025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1 · ЦД ПЛАСТА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и оптимизация системы разработки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1670645"/>
            <a:ext cx="5480939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и адаптация ГГДМ, расчёт на неструктурированных 2D/3D сетках (PEBI), явный учёт трещин ГРП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458839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Многовариантные расчёты бизнес-кейсов с экономической оценкой каждого варианта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003352"/>
            <a:ext cx="585343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Автовыбор системы разработки и схемы заканчивания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30950" y="962025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095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35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2 · ЦД СКВАЖИНЫ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35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и мониторинг строительства скважин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83350" y="167064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типовых скважин на основе исторических данных и лучших практик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83350" y="221515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бурения в реальном времени, выявление отклонений и рисков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350" y="2759671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Компьютерное зрение — идентификация опасных действий и условий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52300" y="962025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5230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20470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2 · ЦД СКВАЖИНЫ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20470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мониторинг внутрискважинных работ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204700" y="167064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модули: планирование, выполнение, завершение работ, аналитика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04700" y="221515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ТКРС — от наряд-заказа до акта выполненных работ в едином источнике данных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04700" y="2759671"/>
            <a:ext cx="5480939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Удалённый сбор данных с датчиков подъёмного агрегата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609600" y="4930577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4930577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5082977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ДОБЫЧИ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2000" y="5330627"/>
            <a:ext cx="5480939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и оптимизация эксплуатации месторождения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2000" y="5890617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Виртуальная расходометрия, прогноз добычи, выявление отклонений режима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2000" y="6435130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и мнемосхемы подготовки нефти и газа, контроль химизации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2000" y="6979643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фонда — онлайн-подбор низкорентабельных скважин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0950" y="4930577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30950" y="4930577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350" y="5082977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НАЗЕМНОЙ ИНФРАСТРУКТУРЫ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83350" y="5330627"/>
            <a:ext cx="5480939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Предиктивная аналитика отказов трубопроводов (ПАОТ)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483350" y="5890617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технического состояния и остаточного ресурса на базе машинного обучения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83350" y="6435130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программы диагностики и инструментальных обследований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83350" y="6979643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программы надёжности на средне- и долгосрочный горизонт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052300" y="4930577"/>
            <a:ext cx="5626100" cy="387330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52300" y="4930577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1" name="Text 39"/>
          <p:cNvSpPr/>
          <p:nvPr/>
        </p:nvSpPr>
        <p:spPr>
          <a:xfrm>
            <a:off x="12204700" y="5082977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НАЗЕМНОЙ ИНФРАСТРУКТУРЫ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204700" y="5330627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Концептуальное проектирование обустройства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04700" y="5639197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модули: профиль добычи и график бурения, кустование, автопостроение, гидравлика, затраты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204700" y="6183710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оценка вариантов обустройства (CAPEX / OPEX)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204700" y="6728222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Наиболее ресурсоёмкий модуль комплекса — требует отдельного согласования сайзинга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600" y="8899128"/>
            <a:ext cx="17068800" cy="1140222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" y="9032478"/>
            <a:ext cx="33356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СЛОЙ ДЛЯ ВСЕЙ ЦЕПОЧКИ UPSTREAM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0100" y="9426178"/>
            <a:ext cx="3335655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данных и интеграций цифровых двойников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4305300" y="9256713"/>
            <a:ext cx="6681121" cy="463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Централизованное хранение, интеграция и предоставление производственных данных всем прикладным модулям ЦД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1001375" y="9256713"/>
            <a:ext cx="6681121" cy="463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витрины данных активов (собственность КМГ) · L2 — прикладной расчётный слой · L3 — слой потребления, дашборды и KPI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 и инфраструктура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9842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платформенные технологии: масштабируемость, отказоустойчивость и возможность дальнейшего развития · разделы 4.1–4.2, 4.4 заявки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37795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597025"/>
            <a:ext cx="1039913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09600" y="1895475"/>
            <a:ext cx="4679156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009775"/>
            <a:ext cx="481179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62000" y="2251075"/>
            <a:ext cx="4505587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.NET · C++ (вычислительные сервисы)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84006" y="1895475"/>
            <a:ext cx="4679355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5536406" y="2009775"/>
            <a:ext cx="4812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536406" y="2251075"/>
            <a:ext cx="481201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· TypeScript · JavaScript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2943225"/>
            <a:ext cx="4679156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057525"/>
            <a:ext cx="481179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и сервисы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762000" y="3298825"/>
            <a:ext cx="481179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Django REST Framework · REST API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84006" y="2943225"/>
            <a:ext cx="4679355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5536406" y="3057525"/>
            <a:ext cx="4812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536406" y="3298825"/>
            <a:ext cx="4505791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Postgres Pro Enterprise · PostGIS · TimescaleDB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600" y="3990975"/>
            <a:ext cx="4679156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105275"/>
            <a:ext cx="481179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 и данные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762000" y="4346575"/>
            <a:ext cx="4505587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CatBoost · scikit-learn · Transformer · Pandas · NumPy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84006" y="3990975"/>
            <a:ext cx="4679355" cy="952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5536406" y="4105275"/>
            <a:ext cx="4812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Контейнеризация и оркестрация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5536406" y="4346575"/>
            <a:ext cx="4505791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OCI Images · Kubernetes · OpenShift (OKD)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9600" y="5038725"/>
            <a:ext cx="4679156" cy="711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5153025"/>
            <a:ext cx="481179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 и очереди сообщений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762000" y="5394325"/>
            <a:ext cx="481179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· Node.js · RabbitMQ · Redis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84006" y="5038725"/>
            <a:ext cx="4679355" cy="711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5536406" y="5153025"/>
            <a:ext cx="4812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 и визуализация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5536406" y="5394325"/>
            <a:ext cx="481201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GeoServer · Matplotlib · SHAP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9600" y="5845175"/>
            <a:ext cx="9737374" cy="500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 может отличаться для отдельных модулей; все решения реализуются в рамках единой архитектурной концепции и совместимы между собой.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406261" y="1597025"/>
            <a:ext cx="799935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И РАЗМЕЩЕНИЕ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0406261" y="1895475"/>
            <a:ext cx="7272139" cy="10001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06261" y="1895475"/>
            <a:ext cx="25400" cy="10001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34" name="Text 32"/>
          <p:cNvSpPr/>
          <p:nvPr/>
        </p:nvSpPr>
        <p:spPr>
          <a:xfrm>
            <a:off x="10584061" y="2009775"/>
            <a:ext cx="71601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контур развёрнут и функционирует </a:t>
            </a:r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4 виртуальные машины (ksrv5130–ksrv5133); облачная площадка на территории Республики Казахстан (аренда вычислительных ресурсов)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406261" y="2990850"/>
            <a:ext cx="7272139" cy="10001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6261" y="2990850"/>
            <a:ext cx="25400" cy="10001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37" name="Text 35"/>
          <p:cNvSpPr/>
          <p:nvPr/>
        </p:nvSpPr>
        <p:spPr>
          <a:xfrm>
            <a:off x="10584061" y="3105150"/>
            <a:ext cx="71601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конфигурация — до 14 ВМ </a:t>
            </a:r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 спецификация вычислительных ресурсов по модулям на пересмотре с поставщиком; наиболее ресурсоёмкий модуль — моделирование наземной инфраструктуры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406261" y="4086225"/>
            <a:ext cx="7272139" cy="10001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06261" y="4086225"/>
            <a:ext cx="25400" cy="10001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40" name="Text 38"/>
          <p:cNvSpPr/>
          <p:nvPr/>
        </p:nvSpPr>
        <p:spPr>
          <a:xfrm>
            <a:off x="10584061" y="4200525"/>
            <a:ext cx="71601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серверных компонентов </a:t>
            </a:r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корпоративная ИТ-инфраструктура АО НК «КазМунайГаз» (либо инфраструктура ДЗО), защищённый корпоративный контур, Kubernetes/OpenShift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406261" y="5181600"/>
            <a:ext cx="7272139" cy="7429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06261" y="5181600"/>
            <a:ext cx="25400" cy="742950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43" name="Text 41"/>
          <p:cNvSpPr/>
          <p:nvPr/>
        </p:nvSpPr>
        <p:spPr>
          <a:xfrm>
            <a:off x="10584061" y="5295900"/>
            <a:ext cx="716010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и доступ </a:t>
            </a:r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Nginx (публикация сервисов, терминация TLS) · Keycloak SSO (единая аутентификация) · wildcard-сертификат *.kmg.kz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406261" y="6019800"/>
            <a:ext cx="7272139" cy="7429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06261" y="6019800"/>
            <a:ext cx="25400" cy="742950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46" name="Text 44"/>
          <p:cNvSpPr/>
          <p:nvPr/>
        </p:nvSpPr>
        <p:spPr>
          <a:xfrm>
            <a:off x="10584061" y="6134100"/>
            <a:ext cx="716010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Вычислительные ресурсы CPU и GPU </a:t>
            </a:r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инженерные расчёты и алгоритмы машинного обучения; объектное хранилище данных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09600" y="96710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8" name="Text 46"/>
          <p:cNvSpPr/>
          <p:nvPr/>
        </p:nvSpPr>
        <p:spPr>
          <a:xfrm>
            <a:off x="17463890" y="9779001"/>
            <a:ext cx="29071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 с ИТ-ландшафтом КМГ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10223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интеграционных потоков цифровых двойников с информационными системами КМГ и ДЗО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41605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635125"/>
            <a:ext cx="10792223" cy="61309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5125"/>
            <a:ext cx="10792223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1844675"/>
            <a:ext cx="11452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ABAI · ТОО «КМГ Инжиниринг»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" y="2225675"/>
            <a:ext cx="5129411" cy="260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2371725"/>
            <a:ext cx="52791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 → ЦД · ВХОДЯЩИЕ ДАННЫЕ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65200" y="2651125"/>
            <a:ext cx="4943187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производственного и технологического учёта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65200" y="3255169"/>
            <a:ext cx="4943187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работы фонда скважин, фактические показатели добычи и закачки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65200" y="3859213"/>
            <a:ext cx="5279132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 ГТМ и ремонтам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65200" y="4199334"/>
            <a:ext cx="4943187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Справочная информация по объектам обустройства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1911" y="2225675"/>
            <a:ext cx="5129411" cy="260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7011" y="2371725"/>
            <a:ext cx="4943187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86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→ ABAI · РЕЗУЛЬТАТЫ РАСЧЁТОВ И МОДЕЛИРОВАНИЯ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247011" y="2854325"/>
            <a:ext cx="5279132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Прогнозные профили добычи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247011" y="3194447"/>
            <a:ext cx="5279132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Рекомендованные режимы работы скважин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47011" y="3514328"/>
            <a:ext cx="5279132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Ранжированные перечни ГТМ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7011" y="3834210"/>
            <a:ext cx="4943187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состояния объектов наземной инфраструктуры и трубопроводов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" y="4947047"/>
            <a:ext cx="10723559" cy="56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обмена — REST API, Web Services, представления баз данных (View), файловый обмен. Конкретный перечень определяется по результатам обследования каждого актива.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" y="5586810"/>
            <a:ext cx="10723559" cy="56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6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НСИ и идентификация объектов (скважина, пласт, объект обустройства) — на основе справочников ИС «ABAI» с последующим переводом на корпоративную систему MDM/НСИ по мере её создания.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554223" y="1635125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54223" y="1635125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4" name="Text 22"/>
          <p:cNvSpPr/>
          <p:nvPr/>
        </p:nvSpPr>
        <p:spPr>
          <a:xfrm>
            <a:off x="11732022" y="1768475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KMG Data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32022" y="2066925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Приёмник цифровых показателей аналитики нарушений и производственных метрик из модулей ЦД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54223" y="2842419"/>
            <a:ext cx="6124179" cy="10957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54223" y="2842419"/>
            <a:ext cx="25400" cy="1095772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28" name="Text 26"/>
          <p:cNvSpPr/>
          <p:nvPr/>
        </p:nvSpPr>
        <p:spPr>
          <a:xfrm>
            <a:off x="11732022" y="2975769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АСДЦ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732022" y="3274219"/>
            <a:ext cx="6373376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Модернизация под контур ЦД в 2026 году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554223" y="4052491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54223" y="4052491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32" name="Text 30"/>
          <p:cNvSpPr/>
          <p:nvPr/>
        </p:nvSpPr>
        <p:spPr>
          <a:xfrm>
            <a:off x="11732022" y="4185841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Производственные системы ДЗО и КХД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732022" y="4484291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/ АСУ ТП, АГЗУ, ИСУ, SAP ERP, корпоративное хранилище данных КМГ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1554223" y="5259785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54223" y="5259785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36" name="Text 34"/>
          <p:cNvSpPr/>
          <p:nvPr/>
        </p:nvSpPr>
        <p:spPr>
          <a:xfrm>
            <a:off x="11732022" y="5393135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на уровне ДЗО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732022" y="5691585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Интеграционная шина (ESB/API Gateway) и MDM/НСИ отсутствуют — первый этап по схеме «точка-точка»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609600" y="7899400"/>
            <a:ext cx="17068800" cy="1562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9" name="Text 37"/>
          <p:cNvSpPr/>
          <p:nvPr/>
        </p:nvSpPr>
        <p:spPr>
          <a:xfrm>
            <a:off x="819150" y="8051800"/>
            <a:ext cx="183146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ДАННЫЕ: ИТ-ОБСЛЕДОВАНИЕ ЦЕПОЧКИ КЦ — КМГИ — ЭМГ ПО ОТЧЁТУ «ENROX OIL &amp; GAS FIELDS SERVICES - FZCO», ИЮНЬ–ИЮЛЬ 2026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19150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033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80%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0033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рабочего времени специалистов — ручной перенос данных в Excel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70650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548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6548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интеграционных шин (ESB/API Gateway) и систем MDM/НСИ на уровне ДЗО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122151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23063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23063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«серые зоны» функционального пересечения: геология — 12, разработка — 19, ВСР — 32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0" name="Text 48"/>
          <p:cNvSpPr/>
          <p:nvPr/>
        </p:nvSpPr>
        <p:spPr>
          <a:xfrm>
            <a:off x="17500402" y="9721850"/>
            <a:ext cx="25419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карта, этапы внедрения и статус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09600" y="10795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317625"/>
            <a:ext cx="3306961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781050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050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1050" y="2117725"/>
            <a:ext cx="3052983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Развёрнут пилотный контур на 4 виртуальных машинах. Введены два расчётных десктопных модуля и один веб-модуль.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049911" y="1317625"/>
            <a:ext cx="3307159" cy="2301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049911" y="1317625"/>
            <a:ext cx="3307159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1" name="Text 9"/>
          <p:cNvSpPr/>
          <p:nvPr/>
        </p:nvSpPr>
        <p:spPr>
          <a:xfrm>
            <a:off x="4221361" y="1508125"/>
            <a:ext cx="326068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21361" y="1800225"/>
            <a:ext cx="32606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221361" y="2117725"/>
            <a:ext cx="3053187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Онбординг пользователей ЭМГ по четырём управлениям. Подготовка демонстрации решения — до 31.08.2026.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7490421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0421" y="1317625"/>
            <a:ext cx="3306961" cy="38100"/>
          </a:xfrm>
          <a:prstGeom prst="rect">
            <a:avLst/>
          </a:prstGeom>
          <a:solidFill>
            <a:srgbClr val="8496A6"/>
          </a:solidFill>
          <a:ln/>
        </p:spPr>
      </p:sp>
      <p:sp>
        <p:nvSpPr>
          <p:cNvPr id="16" name="Text 14"/>
          <p:cNvSpPr/>
          <p:nvPr/>
        </p:nvSpPr>
        <p:spPr>
          <a:xfrm>
            <a:off x="7661871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КВАРТАЛ 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61871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Планируется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61871" y="2117725"/>
            <a:ext cx="3052983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Утверждение потребности в финансировании.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0930732" y="1317625"/>
            <a:ext cx="3307159" cy="2301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30732" y="1317625"/>
            <a:ext cx="3307159" cy="38100"/>
          </a:xfrm>
          <a:prstGeom prst="rect">
            <a:avLst/>
          </a:prstGeom>
          <a:solidFill>
            <a:srgbClr val="8496A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2182" y="1508125"/>
            <a:ext cx="326068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2026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02182" y="1800225"/>
            <a:ext cx="32606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дата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02182" y="2117725"/>
            <a:ext cx="3053187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пилота Цифрового двойника на Восточном Молдабеке в промышленную эксплуатацию.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4371241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71241" y="1317625"/>
            <a:ext cx="3306961" cy="38100"/>
          </a:xfrm>
          <a:prstGeom prst="rect">
            <a:avLst/>
          </a:prstGeom>
          <a:solidFill>
            <a:srgbClr val="8496A6"/>
          </a:solidFill>
          <a:ln/>
        </p:spPr>
      </p:sp>
      <p:sp>
        <p:nvSpPr>
          <p:cNvPr id="26" name="Text 24"/>
          <p:cNvSpPr/>
          <p:nvPr/>
        </p:nvSpPr>
        <p:spPr>
          <a:xfrm>
            <a:off x="14542691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2027–2028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542691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Тиражирование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42691" y="2117725"/>
            <a:ext cx="3052983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на 12 приоритетных активах 7 ДЗО.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09600" y="3810000"/>
            <a:ext cx="1068966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ВНЕДРЕНИЯ НА АКТИВЕ (ТИПОВОЙ ЦИКЛ)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9600" y="4121150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40581" y="4121150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Обследование актива, сбор и оценка качества данных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506641" y="4121150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737622" y="4121150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инфраструктуры: ВМ, СХД, сетевые доступы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609600" y="4717256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40581" y="4717256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настройка прикладного ПО, публикация сервисов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5506641" y="4717256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737622" y="4717256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ИС ABAI и производственными системами ДЗО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609600" y="5313363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40581" y="5313363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данных, построение и адаптация моделей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5506641" y="5313363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5737622" y="5313363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пользователей и опытная эксплуатация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609600" y="5909469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40581" y="5909469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в промышленную эксплуатацию, передача на сопровождение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0479881" y="3810000"/>
            <a:ext cx="79183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ПОДГОТОВКИ ПРОГРАММЫ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479881" y="4121150"/>
            <a:ext cx="7198519" cy="450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6" name="Text 44"/>
          <p:cNvSpPr/>
          <p:nvPr/>
        </p:nvSpPr>
        <p:spPr>
          <a:xfrm>
            <a:off x="10632281" y="4216400"/>
            <a:ext cx="932656" cy="2980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ТС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1641138" y="4216400"/>
            <a:ext cx="5705654" cy="298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спецификация и обследование активов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0479881" y="4647803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9" name="Text 47"/>
          <p:cNvSpPr/>
          <p:nvPr/>
        </p:nvSpPr>
        <p:spPr>
          <a:xfrm>
            <a:off x="10632281" y="4743053"/>
            <a:ext cx="1128514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ФЭМ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1836996" y="4743053"/>
            <a:ext cx="585967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Финансово-экономическая модель — сформирована, направлена в ДЦР КМГ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0479881" y="5434410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2" name="Text 50"/>
          <p:cNvSpPr/>
          <p:nvPr/>
        </p:nvSpPr>
        <p:spPr>
          <a:xfrm>
            <a:off x="10632281" y="5529660"/>
            <a:ext cx="2689781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БЮДЖЕТИРОВАНИЯ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3396120" y="5529660"/>
            <a:ext cx="4253778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Включение потребности в бюджет и корректировка бизнес-плана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0479881" y="6221016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5" name="Text 53"/>
          <p:cNvSpPr/>
          <p:nvPr/>
        </p:nvSpPr>
        <p:spPr>
          <a:xfrm>
            <a:off x="10632281" y="6316266"/>
            <a:ext cx="1582142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ЗАКУПОК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2290624" y="6316266"/>
            <a:ext cx="5392438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Закупочные процедуры, договоры на внедрение и сопровождение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8" name="Text 56"/>
          <p:cNvSpPr/>
          <p:nvPr/>
        </p:nvSpPr>
        <p:spPr>
          <a:xfrm>
            <a:off x="17538899" y="9721850"/>
            <a:ext cx="21570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Организационная структура и матрица принятия решений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9842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5.1 заявки на архитектурно-технический комитет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37795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597025"/>
            <a:ext cx="836301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СТЕЙКХОЛДЕРЫ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609600" y="1914525"/>
            <a:ext cx="7602736" cy="18827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914525"/>
            <a:ext cx="7602736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8" name="Text 6"/>
          <p:cNvSpPr/>
          <p:nvPr/>
        </p:nvSpPr>
        <p:spPr>
          <a:xfrm>
            <a:off x="781050" y="2105025"/>
            <a:ext cx="798582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НК «КазМунайГаз»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1050" y="2365375"/>
            <a:ext cx="7477631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ДДНГ · ДЦР · Департамент стратегии и устойчивого развития · Департамент геологии и разведки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81050" y="2873375"/>
            <a:ext cx="747763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 проекта, владелец бизнес-процессов: функциональные требования, согласование результатов, решения по развитию функциональности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600" y="3911600"/>
            <a:ext cx="7602736" cy="14319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911600"/>
            <a:ext cx="7602736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3" name="Text 11"/>
          <p:cNvSpPr/>
          <p:nvPr/>
        </p:nvSpPr>
        <p:spPr>
          <a:xfrm>
            <a:off x="781050" y="4102100"/>
            <a:ext cx="798582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81050" y="4419600"/>
            <a:ext cx="747763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программного продукта: организация закупки, сопровождение внедрения, эксплуатация, развитие, техподдержка и тиражирование решений в Группе компаний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600" y="5457825"/>
            <a:ext cx="7602736" cy="11747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5457825"/>
            <a:ext cx="7602736" cy="381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781050" y="5648325"/>
            <a:ext cx="798582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81050" y="5965825"/>
            <a:ext cx="74776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Предоставление исходных данных, участие в обследовании, опытной эксплуатации, приёмочных испытаниях и промышленной эксплуатации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55236" y="1597025"/>
            <a:ext cx="1003548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14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ПРИНЯТИЯ РЕШЕНИЙ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8555236" y="1914525"/>
            <a:ext cx="9123164" cy="41275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1" name="Text 19"/>
          <p:cNvSpPr/>
          <p:nvPr/>
        </p:nvSpPr>
        <p:spPr>
          <a:xfrm>
            <a:off x="8707636" y="2019300"/>
            <a:ext cx="42778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ОТВЕТСТВЕННОСТИ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156804" y="2019300"/>
            <a:ext cx="450941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ОТВЕТСТВЕННЫЙ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555236" y="277177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4" name="Text 22"/>
          <p:cNvSpPr/>
          <p:nvPr/>
        </p:nvSpPr>
        <p:spPr>
          <a:xfrm>
            <a:off x="8707636" y="2432050"/>
            <a:ext cx="42778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Владение бизнес-процессами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156804" y="2432050"/>
            <a:ext cx="45094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ДЦР АО НК «КазМунайГаз»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55236" y="2784475"/>
            <a:ext cx="9123164" cy="7048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8555236" y="347662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07636" y="2889250"/>
            <a:ext cx="427784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функциональных требований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156804" y="2889250"/>
            <a:ext cx="450941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ДЦР совместно с ДЗО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55236" y="394017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1" name="Text 29"/>
          <p:cNvSpPr/>
          <p:nvPr/>
        </p:nvSpPr>
        <p:spPr>
          <a:xfrm>
            <a:off x="8707636" y="3594100"/>
            <a:ext cx="42778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реализацией проекта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56804" y="3594100"/>
            <a:ext cx="450941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555236" y="3952875"/>
            <a:ext cx="9123164" cy="4635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4" name="Shape 32"/>
          <p:cNvSpPr/>
          <p:nvPr/>
        </p:nvSpPr>
        <p:spPr>
          <a:xfrm>
            <a:off x="8555236" y="440372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5" name="Text 33"/>
          <p:cNvSpPr/>
          <p:nvPr/>
        </p:nvSpPr>
        <p:spPr>
          <a:xfrm>
            <a:off x="8707636" y="4057650"/>
            <a:ext cx="42778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Владение программным продуктом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156804" y="4057650"/>
            <a:ext cx="450941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555236" y="510857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07636" y="4521200"/>
            <a:ext cx="427784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 и развитие программного продукта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156804" y="4521200"/>
            <a:ext cx="450941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555236" y="5121275"/>
            <a:ext cx="9123164" cy="7048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1" name="Shape 39"/>
          <p:cNvSpPr/>
          <p:nvPr/>
        </p:nvSpPr>
        <p:spPr>
          <a:xfrm>
            <a:off x="8555236" y="5813425"/>
            <a:ext cx="9123164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2" name="Text 40"/>
          <p:cNvSpPr/>
          <p:nvPr/>
        </p:nvSpPr>
        <p:spPr>
          <a:xfrm>
            <a:off x="8707636" y="5226050"/>
            <a:ext cx="427784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и внедрение программного обеспечения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3156804" y="5226050"/>
            <a:ext cx="450941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707636" y="5930900"/>
            <a:ext cx="427784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Архитектурное согласование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156804" y="5930900"/>
            <a:ext cx="450941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Архитектурно-технический комитет АО НК «КазМунайГаз»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555236" y="6588125"/>
            <a:ext cx="9123164" cy="10001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Shape 45"/>
          <p:cNvSpPr/>
          <p:nvPr/>
        </p:nvSpPr>
        <p:spPr>
          <a:xfrm>
            <a:off x="8555236" y="6588125"/>
            <a:ext cx="25400" cy="1000125"/>
          </a:xfrm>
          <a:prstGeom prst="rect">
            <a:avLst/>
          </a:prstGeom>
          <a:solidFill>
            <a:srgbClr val="1F5C96"/>
          </a:solidFill>
          <a:ln/>
        </p:spPr>
      </p:sp>
      <p:sp>
        <p:nvSpPr>
          <p:cNvPr id="48" name="Text 46"/>
          <p:cNvSpPr/>
          <p:nvPr/>
        </p:nvSpPr>
        <p:spPr>
          <a:xfrm>
            <a:off x="8733036" y="6702425"/>
            <a:ext cx="906665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Программные продукты приобретаются ТОО «KMG Digital», внедряются, адаптируются и передаются в промышленную эксплуатацию с размещением на балансе Общества в качестве корпоративных информационных систем.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09600" y="96710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50" name="Text 48"/>
          <p:cNvSpPr/>
          <p:nvPr/>
        </p:nvSpPr>
        <p:spPr>
          <a:xfrm>
            <a:off x="17503973" y="9779001"/>
            <a:ext cx="25062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риски и связанные с ними ограничения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09600" y="10795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298575"/>
            <a:ext cx="17068800" cy="592534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781050" y="1412875"/>
            <a:ext cx="4931196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01532" y="1412875"/>
            <a:ext cx="4931196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ВОЗМОЖНЫЕ ПОСЛЕДСТВИЯ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22013" y="1412875"/>
            <a:ext cx="6689773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МЕРОПРИЯТИЯ ПО МИНИМИЗАЦИИ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600" y="3156545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9" name="Text 7"/>
          <p:cNvSpPr/>
          <p:nvPr/>
        </p:nvSpPr>
        <p:spPr>
          <a:xfrm>
            <a:off x="781050" y="1995884"/>
            <a:ext cx="4931196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Недостаточная полнота и качество исходных данных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901532" y="1995884"/>
            <a:ext cx="4931196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функциональности отдельных модулей и снижение качества аналитических расчётов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22013" y="1995884"/>
            <a:ext cx="6689773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Предварительное обследование, верификация и подготовка исходных данных совместно с ДЗО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3169246"/>
            <a:ext cx="17068800" cy="98940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4145955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14" name="Text 12"/>
          <p:cNvSpPr/>
          <p:nvPr/>
        </p:nvSpPr>
        <p:spPr>
          <a:xfrm>
            <a:off x="781050" y="3274021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или несвоевременная готовность интеграций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901532" y="3274021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сроков ввода отдельных функций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22013" y="3274021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Поэтапная реализация интеграций и согласование взаимодействия с владельцами корпоративных информационных систем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5102424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18" name="Text 16"/>
          <p:cNvSpPr/>
          <p:nvPr/>
        </p:nvSpPr>
        <p:spPr>
          <a:xfrm>
            <a:off x="781050" y="4263430"/>
            <a:ext cx="4931196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вычислительной инфраструктуры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901532" y="4263430"/>
            <a:ext cx="4931196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производительности программного комплекса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22013" y="4263430"/>
            <a:ext cx="6689773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оценка инфраструктуры и обеспечение необходимыми вычислительными ресурсами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600" y="5115124"/>
            <a:ext cx="17068800" cy="98940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6091833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050" y="5219899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бизнес-требований в ходе реализации проекта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901532" y="5219899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объёма работ и сроков реализации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22013" y="5219899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процедуры управления изменениями и согласование дополнительных требований в установленном порядке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600" y="7081243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" y="6209308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уровень готовности пользователей к использованию новых цифровых инструментов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901532" y="6209308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периода адаптации при вводе в промышленную эксплуатацию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22013" y="6209308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обучения пользователей, сопровождение опытно-промышленной эксплуатации и методологическая поддержка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600" y="7093943"/>
            <a:ext cx="17068800" cy="23675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781050" y="7198718"/>
            <a:ext cx="4931196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расчётного контура ЦД от стороннего специализированного ПО (геологическое и гидродинамическое моделирование, обработка сейсмики), остающегося за периметром проекта, включая лицензионные и санкционные ограничения по нему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901532" y="7198718"/>
            <a:ext cx="4931196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сквозного расчётного цикла, ручная передача моделей, расхождение версий и потеря истории адаптации; при прекращении лицензий — приостановка подготовки исходных данных для ЦД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022013" y="7198718"/>
            <a:ext cx="6689773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 стороннего ПО и моделей по каждому активу; требование к импорту/экспорту в открытых и отраслевых форматах в договоре с поставщиком; приёмочные испытания переноса моделей на пилоте; мониторинг лицензионного статуса совместно с КМГИ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</p:sp>
      <p:sp>
        <p:nvSpPr>
          <p:cNvPr id="35" name="Text 33"/>
          <p:cNvSpPr/>
          <p:nvPr/>
        </p:nvSpPr>
        <p:spPr>
          <a:xfrm>
            <a:off x="17502585" y="9721850"/>
            <a:ext cx="25201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810512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РЕШЕНИЯ АТК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20750"/>
            <a:ext cx="15893415" cy="1043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47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проект внедрения «Цифрового двойника месторождения» в периметре 12 приоритетных активов и 7 ДЗО АО НК «КазМунайГаз» на 2026–2028 годы.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8789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1731"/>
            <a:ext cx="68009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двойники — прикладное ПО, 6 модулей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97905" y="24217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7 748 425 240 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5012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44031"/>
            <a:ext cx="46410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слой данных и интеграции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97905" y="30440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2 329 510 456 ₸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41235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66331"/>
            <a:ext cx="55642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и консалтинг внедрения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97905" y="36663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1 087 215 561 ₸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47458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88631"/>
            <a:ext cx="55714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трансформации (за счёт ДЗО)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97905" y="42886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3 284 900 000 ₸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4910932"/>
            <a:ext cx="28557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Модернизация АСДЦ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604479" y="4910932"/>
            <a:ext cx="17571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580 376 078 ₸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5577682"/>
            <a:ext cx="14287500" cy="850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857081"/>
            <a:ext cx="777779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— общая потребность в финансировании программы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48121" y="5787232"/>
            <a:ext cx="3285788" cy="469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15 030 427 335 ₸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14400" y="9518650"/>
            <a:ext cx="164592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7193023" y="9664700"/>
            <a:ext cx="25677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2026-08-06T12:33:12Z</dcterms:created>
  <dcterms:modified xsi:type="dcterms:W3CDTF">2026-08-06T12:33:12Z</dcterms:modified>
</cp:coreProperties>
</file>