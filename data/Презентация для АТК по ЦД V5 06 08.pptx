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48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91465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88900"/>
          </a:xfrm>
          <a:prstGeom prst="rect">
            <a:avLst/>
          </a:prstGeom>
          <a:solidFill>
            <a:srgbClr val="0B2E4F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3" name="Text 1"/>
          <p:cNvSpPr/>
          <p:nvPr/>
        </p:nvSpPr>
        <p:spPr>
          <a:xfrm>
            <a:off x="914400" y="927100"/>
            <a:ext cx="6792258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kern="0" spc="30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АРХИТЕКТУРНО-ТЕХНИЧЕСКИЙ КОМИТЕТ</a:t>
            </a:r>
            <a:endParaRPr lang="en-US" sz="1875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65327" y="927100"/>
            <a:ext cx="1108273" cy="609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3848695"/>
            <a:ext cx="15893415" cy="16593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6727"/>
              </a:lnSpc>
              <a:buNone/>
            </a:pPr>
            <a:r>
              <a:rPr lang="en-US" sz="5700" b="1" kern="0" spc="-85" dirty="0">
                <a:solidFill>
                  <a:srgbClr val="0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Цифровые двойники месторождения на базе ИС «ABAI» с применением ИИ</a:t>
            </a:r>
            <a:endParaRPr lang="en-US" sz="5700" dirty="0"/>
          </a:p>
        </p:txBody>
      </p:sp>
      <p:sp>
        <p:nvSpPr>
          <p:cNvPr id="6" name="Shape 3"/>
          <p:cNvSpPr/>
          <p:nvPr/>
        </p:nvSpPr>
        <p:spPr>
          <a:xfrm>
            <a:off x="914400" y="5793780"/>
            <a:ext cx="1143000" cy="47625"/>
          </a:xfrm>
          <a:prstGeom prst="rect">
            <a:avLst/>
          </a:prstGeom>
          <a:solidFill>
            <a:srgbClr val="1F5C96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7" name="Text 4"/>
          <p:cNvSpPr/>
          <p:nvPr/>
        </p:nvSpPr>
        <p:spPr>
          <a:xfrm>
            <a:off x="914400" y="6089055"/>
            <a:ext cx="146685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Программа внедрения на 12 приоритетных активах · 7 ДЗО АО НК «КазМунайГаз»</a:t>
            </a:r>
            <a:endParaRPr lang="en-US" sz="2250" dirty="0"/>
          </a:p>
        </p:txBody>
      </p:sp>
      <p:sp>
        <p:nvSpPr>
          <p:cNvPr id="8" name="Shape 5"/>
          <p:cNvSpPr/>
          <p:nvPr/>
        </p:nvSpPr>
        <p:spPr>
          <a:xfrm>
            <a:off x="914400" y="8743950"/>
            <a:ext cx="16459200" cy="12700"/>
          </a:xfrm>
          <a:prstGeom prst="rect">
            <a:avLst/>
          </a:prstGeom>
          <a:solidFill>
            <a:srgbClr val="D5DEE6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9" name="Text 6"/>
          <p:cNvSpPr/>
          <p:nvPr/>
        </p:nvSpPr>
        <p:spPr>
          <a:xfrm>
            <a:off x="914400" y="9042400"/>
            <a:ext cx="285533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44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ЗАКАЗЧИК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914400" y="9385300"/>
            <a:ext cx="2855337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0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АО НК «КазМунайГаз»</a:t>
            </a:r>
            <a:endParaRPr lang="en-US" sz="1950" dirty="0"/>
          </a:p>
        </p:txBody>
      </p:sp>
      <p:sp>
        <p:nvSpPr>
          <p:cNvPr id="11" name="Text 8"/>
          <p:cNvSpPr/>
          <p:nvPr/>
        </p:nvSpPr>
        <p:spPr>
          <a:xfrm>
            <a:off x="5338961" y="9042400"/>
            <a:ext cx="55384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44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ВЛАДЕЛЕЦ ПРОГРАММНОГО ПРОДУКТА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5338961" y="9385300"/>
            <a:ext cx="553845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0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ТОО «KMG Digital»</a:t>
            </a:r>
            <a:endParaRPr lang="en-US" sz="1950" dirty="0"/>
          </a:p>
        </p:txBody>
      </p:sp>
      <p:sp>
        <p:nvSpPr>
          <p:cNvPr id="13" name="Text 10"/>
          <p:cNvSpPr/>
          <p:nvPr/>
        </p:nvSpPr>
        <p:spPr>
          <a:xfrm>
            <a:off x="11288316" y="9042400"/>
            <a:ext cx="315853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44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БЮДЖЕТ ПРОГРАММЫ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11288316" y="9385300"/>
            <a:ext cx="315853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0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15,03 млрд ₸</a:t>
            </a:r>
            <a:endParaRPr lang="en-US" sz="1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09600"/>
            <a:ext cx="1810512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450" b="1" dirty="0">
                <a:solidFill>
                  <a:srgbClr val="0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Мандат и цели программы</a:t>
            </a:r>
            <a:endParaRPr lang="en-US" sz="3450" dirty="0"/>
          </a:p>
        </p:txBody>
      </p:sp>
      <p:sp>
        <p:nvSpPr>
          <p:cNvPr id="3" name="Shape 1"/>
          <p:cNvSpPr/>
          <p:nvPr/>
        </p:nvSpPr>
        <p:spPr>
          <a:xfrm>
            <a:off x="914400" y="1314450"/>
            <a:ext cx="16459200" cy="9525"/>
          </a:xfrm>
          <a:prstGeom prst="rect">
            <a:avLst/>
          </a:prstGeom>
          <a:solidFill>
            <a:srgbClr val="D5DEE6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4" name="Text 2"/>
          <p:cNvSpPr/>
          <p:nvPr/>
        </p:nvSpPr>
        <p:spPr>
          <a:xfrm>
            <a:off x="914400" y="1704975"/>
            <a:ext cx="8675370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kern="0" spc="15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ОСНОВАНИЕ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914400" y="2149475"/>
            <a:ext cx="25400" cy="1847056"/>
          </a:xfrm>
          <a:prstGeom prst="rect">
            <a:avLst/>
          </a:prstGeom>
          <a:solidFill>
            <a:srgbClr val="1F5C96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6" name="Text 4"/>
          <p:cNvSpPr/>
          <p:nvPr/>
        </p:nvSpPr>
        <p:spPr>
          <a:xfrm>
            <a:off x="1187450" y="2149475"/>
            <a:ext cx="7842060" cy="15295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7663"/>
              </a:lnSpc>
              <a:buNone/>
            </a:pPr>
            <a:r>
              <a:rPr lang="en-US" sz="2025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Послание Главы государства Касым-Жомарта Токаева народу Казахстана «Казахстан в эпоху искусственного интеллекта: актуальные задачи и их решения через цифровую трансформацию»</a:t>
            </a:r>
            <a:endParaRPr lang="en-US" sz="2025" dirty="0"/>
          </a:p>
        </p:txBody>
      </p:sp>
      <p:sp>
        <p:nvSpPr>
          <p:cNvPr id="7" name="Text 5"/>
          <p:cNvSpPr/>
          <p:nvPr/>
        </p:nvSpPr>
        <p:spPr>
          <a:xfrm>
            <a:off x="1187450" y="3755231"/>
            <a:ext cx="8375015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сентября 2025 года</a:t>
            </a:r>
            <a:endParaRPr lang="en-US" sz="1575" dirty="0"/>
          </a:p>
        </p:txBody>
      </p:sp>
      <p:sp>
        <p:nvSpPr>
          <p:cNvPr id="8" name="Shape 6"/>
          <p:cNvSpPr/>
          <p:nvPr/>
        </p:nvSpPr>
        <p:spPr>
          <a:xfrm>
            <a:off x="914400" y="4225131"/>
            <a:ext cx="25400" cy="1715492"/>
          </a:xfrm>
          <a:prstGeom prst="rect">
            <a:avLst/>
          </a:prstGeom>
          <a:solidFill>
            <a:srgbClr val="1F5C96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9" name="Text 7"/>
          <p:cNvSpPr/>
          <p:nvPr/>
        </p:nvSpPr>
        <p:spPr>
          <a:xfrm>
            <a:off x="1187450" y="4225131"/>
            <a:ext cx="7842060" cy="11566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7663"/>
              </a:lnSpc>
              <a:buNone/>
            </a:pPr>
            <a:r>
              <a:rPr lang="en-US" sz="2025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Дорожная карта внедрения практических решений в области искусственного интеллекта в производственные процессы АО НК «КазМунайГаз»</a:t>
            </a:r>
            <a:endParaRPr lang="en-US" sz="2025" dirty="0"/>
          </a:p>
        </p:txBody>
      </p:sp>
      <p:sp>
        <p:nvSpPr>
          <p:cNvPr id="10" name="Text 8"/>
          <p:cNvSpPr/>
          <p:nvPr/>
        </p:nvSpPr>
        <p:spPr>
          <a:xfrm>
            <a:off x="1187450" y="5458024"/>
            <a:ext cx="7842060" cy="520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Утверждена протоколом Совета директоров АО НК «КазМунайГаз» от 4 декабря 2025 года №21/2025</a:t>
            </a:r>
            <a:endParaRPr lang="en-US" sz="1575" dirty="0"/>
          </a:p>
        </p:txBody>
      </p:sp>
      <p:sp>
        <p:nvSpPr>
          <p:cNvPr id="11" name="Text 9"/>
          <p:cNvSpPr/>
          <p:nvPr/>
        </p:nvSpPr>
        <p:spPr>
          <a:xfrm>
            <a:off x="9486900" y="1704975"/>
            <a:ext cx="8675370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kern="0" spc="15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ЦЕЛЬ ПРОГРАММЫ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486900" y="2149475"/>
            <a:ext cx="8123301" cy="2838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1250"/>
              </a:lnSpc>
              <a:buNone/>
            </a:pPr>
            <a:r>
              <a:rPr lang="en-US" sz="2100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Создание единой цифровой платформы управления производственными активами Группы компаний АО НК «КазМунайГаз» путём внедрения комплекса взаимосвязанных решений класса «Цифровой двойник» на 12 приоритетных производственных активах с возможностью последующего тиражирования на другие активы Компании.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9486900" y="5235575"/>
            <a:ext cx="7886700" cy="345440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4" name="Shape 12"/>
          <p:cNvSpPr/>
          <p:nvPr/>
        </p:nvSpPr>
        <p:spPr>
          <a:xfrm>
            <a:off x="9486900" y="5235575"/>
            <a:ext cx="7886700" cy="38100"/>
          </a:xfrm>
          <a:prstGeom prst="rect">
            <a:avLst/>
          </a:prstGeom>
          <a:solidFill>
            <a:srgbClr val="0B2E4F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5" name="Text 13"/>
          <p:cNvSpPr/>
          <p:nvPr/>
        </p:nvSpPr>
        <p:spPr>
          <a:xfrm>
            <a:off x="9753600" y="5502275"/>
            <a:ext cx="8088630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kern="0" spc="12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ЦД СТРОИТСЯ ВОКРУГ ИС «ABAI»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753600" y="5832475"/>
            <a:ext cx="7573899" cy="2667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3214"/>
              </a:lnSpc>
              <a:buNone/>
            </a:pPr>
            <a:r>
              <a:rPr lang="en-US" sz="1725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 «ABAI» остаётся корпоративным учётным ядром Группы компаний и системой ведения первичного производственного и технологического учёта. Комплекс цифрового двойника обеспечивает расчётный и модельный контур: получает учётные и фактические данные из ИС «ABAI», выполняет моделирование и оптимизацию с применением технологий ИИ и возвращает расчётные результаты для использования в производственном планировании и отчётности.</a:t>
            </a:r>
            <a:endParaRPr lang="en-US" sz="1725" dirty="0"/>
          </a:p>
        </p:txBody>
      </p:sp>
      <p:sp>
        <p:nvSpPr>
          <p:cNvPr id="17" name="Shape 15"/>
          <p:cNvSpPr/>
          <p:nvPr/>
        </p:nvSpPr>
        <p:spPr>
          <a:xfrm>
            <a:off x="914400" y="9404350"/>
            <a:ext cx="16459200" cy="12700"/>
          </a:xfrm>
          <a:prstGeom prst="rect">
            <a:avLst/>
          </a:prstGeom>
          <a:solidFill>
            <a:srgbClr val="D5DEE6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8" name="Text 16"/>
          <p:cNvSpPr/>
          <p:nvPr/>
        </p:nvSpPr>
        <p:spPr>
          <a:xfrm>
            <a:off x="17160876" y="9588500"/>
            <a:ext cx="288925" cy="241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849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19100"/>
            <a:ext cx="18608040" cy="520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0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Предпроектный анализ: выявленная проблематика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685800" y="996950"/>
            <a:ext cx="18608040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Резюме обследования цепочки КЦ — КМГИ — ЭМГ (по отчёту «ENROX OIL &amp; GAS FIELDS SERVICES - FZCO» от 09.07.2026)</a:t>
            </a:r>
            <a:endParaRPr lang="en-US" sz="1575" dirty="0"/>
          </a:p>
        </p:txBody>
      </p:sp>
      <p:sp>
        <p:nvSpPr>
          <p:cNvPr id="4" name="Shape 2"/>
          <p:cNvSpPr/>
          <p:nvPr/>
        </p:nvSpPr>
        <p:spPr>
          <a:xfrm>
            <a:off x="685800" y="1409700"/>
            <a:ext cx="16916400" cy="9525"/>
          </a:xfrm>
          <a:prstGeom prst="rect">
            <a:avLst/>
          </a:prstGeom>
          <a:solidFill>
            <a:srgbClr val="D5DEE6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5" name="Shape 3"/>
          <p:cNvSpPr/>
          <p:nvPr/>
        </p:nvSpPr>
        <p:spPr>
          <a:xfrm>
            <a:off x="685800" y="1666875"/>
            <a:ext cx="3261320" cy="5127228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6" name="Shape 4"/>
          <p:cNvSpPr/>
          <p:nvPr/>
        </p:nvSpPr>
        <p:spPr>
          <a:xfrm>
            <a:off x="685800" y="1666875"/>
            <a:ext cx="3261320" cy="38100"/>
          </a:xfrm>
          <a:prstGeom prst="rect">
            <a:avLst/>
          </a:prstGeom>
          <a:solidFill>
            <a:srgbClr val="0B2E4F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7" name="Text 5"/>
          <p:cNvSpPr/>
          <p:nvPr/>
        </p:nvSpPr>
        <p:spPr>
          <a:xfrm>
            <a:off x="838200" y="1838325"/>
            <a:ext cx="325217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b="1" dirty="0">
                <a:solidFill>
                  <a:srgbClr val="0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ГРР</a:t>
            </a:r>
            <a:endParaRPr lang="en-US" sz="1725" dirty="0"/>
          </a:p>
        </p:txBody>
      </p:sp>
      <p:sp>
        <p:nvSpPr>
          <p:cNvPr id="8" name="Text 6"/>
          <p:cNvSpPr/>
          <p:nvPr/>
        </p:nvSpPr>
        <p:spPr>
          <a:xfrm>
            <a:off x="838200" y="2181225"/>
            <a:ext cx="3045216" cy="525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941"/>
              </a:lnSpc>
              <a:buNone/>
            </a:pPr>
            <a:r>
              <a:rPr lang="en-US" sz="1500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Отрицательная динамика восполняемости запасов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38200" y="2744788"/>
            <a:ext cx="3045216" cy="7691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941"/>
              </a:lnSpc>
              <a:buNone/>
            </a:pPr>
            <a:r>
              <a:rPr lang="en-US" sz="1500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Потенциал развития методологии формирования портфеля проектов ГРР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38200" y="3552031"/>
            <a:ext cx="3045216" cy="16216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500"/>
              </a:lnSpc>
              <a:buNone/>
            </a:pPr>
            <a:r>
              <a:rPr lang="en-US" sz="1575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Распределение ответственности за результат ПРБ требует уточнения на уровне ролей, KPI и механизмов принятия решений</a:t>
            </a:r>
            <a:endParaRPr lang="en-US" sz="1575" dirty="0"/>
          </a:p>
        </p:txBody>
      </p:sp>
      <p:sp>
        <p:nvSpPr>
          <p:cNvPr id="11" name="Text 9"/>
          <p:cNvSpPr/>
          <p:nvPr/>
        </p:nvSpPr>
        <p:spPr>
          <a:xfrm>
            <a:off x="838200" y="5211763"/>
            <a:ext cx="3045216" cy="13577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500"/>
              </a:lnSpc>
              <a:buNone/>
            </a:pPr>
            <a:r>
              <a:rPr lang="en-US" sz="1575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Результаты концептуальных моделей не всегда учитываются при построении оперативных геологических моделей</a:t>
            </a:r>
            <a:endParaRPr lang="en-US" sz="1575" dirty="0"/>
          </a:p>
        </p:txBody>
      </p:sp>
      <p:sp>
        <p:nvSpPr>
          <p:cNvPr id="12" name="Shape 10"/>
          <p:cNvSpPr/>
          <p:nvPr/>
        </p:nvSpPr>
        <p:spPr>
          <a:xfrm>
            <a:off x="4099520" y="1666875"/>
            <a:ext cx="3261320" cy="5127228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3" name="Shape 11"/>
          <p:cNvSpPr/>
          <p:nvPr/>
        </p:nvSpPr>
        <p:spPr>
          <a:xfrm>
            <a:off x="4099520" y="1666875"/>
            <a:ext cx="3261320" cy="38100"/>
          </a:xfrm>
          <a:prstGeom prst="rect">
            <a:avLst/>
          </a:prstGeom>
          <a:solidFill>
            <a:srgbClr val="0B2E4F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4" name="Text 12"/>
          <p:cNvSpPr/>
          <p:nvPr/>
        </p:nvSpPr>
        <p:spPr>
          <a:xfrm>
            <a:off x="4251920" y="1838325"/>
            <a:ext cx="325217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b="1" dirty="0">
                <a:solidFill>
                  <a:srgbClr val="0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Геология и разработка</a:t>
            </a:r>
            <a:endParaRPr lang="en-US" sz="1725" dirty="0"/>
          </a:p>
        </p:txBody>
      </p:sp>
      <p:sp>
        <p:nvSpPr>
          <p:cNvPr id="15" name="Text 13"/>
          <p:cNvSpPr/>
          <p:nvPr/>
        </p:nvSpPr>
        <p:spPr>
          <a:xfrm>
            <a:off x="4251920" y="2181225"/>
            <a:ext cx="3045216" cy="10937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500"/>
              </a:lnSpc>
              <a:buNone/>
            </a:pPr>
            <a:r>
              <a:rPr lang="en-US" sz="1575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Результаты ГДМ не являются достоверным источником для подбора ГТМ в глазах ЭМГ</a:t>
            </a:r>
            <a:endParaRPr lang="en-US" sz="1575" dirty="0"/>
          </a:p>
        </p:txBody>
      </p:sp>
      <p:sp>
        <p:nvSpPr>
          <p:cNvPr id="16" name="Text 14"/>
          <p:cNvSpPr/>
          <p:nvPr/>
        </p:nvSpPr>
        <p:spPr>
          <a:xfrm>
            <a:off x="4251920" y="3313113"/>
            <a:ext cx="3045216" cy="565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500"/>
              </a:lnSpc>
              <a:buNone/>
            </a:pPr>
            <a:r>
              <a:rPr lang="en-US" sz="1575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ГГДМ не обновляется по факту бурения скважин</a:t>
            </a:r>
            <a:endParaRPr lang="en-US" sz="1575" dirty="0"/>
          </a:p>
        </p:txBody>
      </p:sp>
      <p:sp>
        <p:nvSpPr>
          <p:cNvPr id="17" name="Text 15"/>
          <p:cNvSpPr/>
          <p:nvPr/>
        </p:nvSpPr>
        <p:spPr>
          <a:xfrm>
            <a:off x="4251920" y="3917156"/>
            <a:ext cx="3045216" cy="7691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941"/>
              </a:lnSpc>
              <a:buNone/>
            </a:pPr>
            <a:r>
              <a:rPr lang="en-US" sz="1500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Планирование от достигнутого, а не от потенциала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251920" y="4724400"/>
            <a:ext cx="3045216" cy="525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941"/>
              </a:lnSpc>
              <a:buNone/>
            </a:pPr>
            <a:r>
              <a:rPr lang="en-US" sz="1500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Модели не используются для проектирования скважин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7513241" y="1666875"/>
            <a:ext cx="3261320" cy="5127228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20" name="Shape 18"/>
          <p:cNvSpPr/>
          <p:nvPr/>
        </p:nvSpPr>
        <p:spPr>
          <a:xfrm>
            <a:off x="7513241" y="1666875"/>
            <a:ext cx="3261320" cy="38100"/>
          </a:xfrm>
          <a:prstGeom prst="rect">
            <a:avLst/>
          </a:prstGeom>
          <a:solidFill>
            <a:srgbClr val="0B2E4F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21" name="Text 19"/>
          <p:cNvSpPr/>
          <p:nvPr/>
        </p:nvSpPr>
        <p:spPr>
          <a:xfrm>
            <a:off x="7665641" y="1838325"/>
            <a:ext cx="325217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b="1" dirty="0">
                <a:solidFill>
                  <a:srgbClr val="0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Бурение и ВСР</a:t>
            </a:r>
            <a:endParaRPr lang="en-US" sz="1725" dirty="0"/>
          </a:p>
        </p:txBody>
      </p:sp>
      <p:sp>
        <p:nvSpPr>
          <p:cNvPr id="22" name="Text 20"/>
          <p:cNvSpPr/>
          <p:nvPr/>
        </p:nvSpPr>
        <p:spPr>
          <a:xfrm>
            <a:off x="7665641" y="2181225"/>
            <a:ext cx="3045216" cy="1256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941"/>
              </a:lnSpc>
              <a:buNone/>
            </a:pPr>
            <a:r>
              <a:rPr lang="en-US" sz="1500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Низкая управляемость сроками, стоимостью и анализом строительства скважин вследствие контрактования под ключ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665641" y="3475831"/>
            <a:ext cx="3045216" cy="10937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500"/>
              </a:lnSpc>
              <a:buNone/>
            </a:pPr>
            <a:r>
              <a:rPr lang="en-US" sz="1575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Разделение ТКРС на ПРС и КРС ограничивает оптимизацию графика движения бригад</a:t>
            </a:r>
            <a:endParaRPr lang="en-US" sz="1575" dirty="0"/>
          </a:p>
        </p:txBody>
      </p:sp>
      <p:sp>
        <p:nvSpPr>
          <p:cNvPr id="24" name="Text 22"/>
          <p:cNvSpPr/>
          <p:nvPr/>
        </p:nvSpPr>
        <p:spPr>
          <a:xfrm>
            <a:off x="7665641" y="4607719"/>
            <a:ext cx="3045216" cy="8298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500"/>
              </a:lnSpc>
              <a:buNone/>
            </a:pPr>
            <a:r>
              <a:rPr lang="en-US" sz="1575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Результаты бурения слабо учитываются в ТКРС, результаты ТКРС — в добыче</a:t>
            </a:r>
            <a:endParaRPr lang="en-US" sz="1575" dirty="0"/>
          </a:p>
        </p:txBody>
      </p:sp>
      <p:sp>
        <p:nvSpPr>
          <p:cNvPr id="25" name="Shape 23"/>
          <p:cNvSpPr/>
          <p:nvPr/>
        </p:nvSpPr>
        <p:spPr>
          <a:xfrm>
            <a:off x="10926961" y="1666875"/>
            <a:ext cx="3261320" cy="5127228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26" name="Shape 24"/>
          <p:cNvSpPr/>
          <p:nvPr/>
        </p:nvSpPr>
        <p:spPr>
          <a:xfrm>
            <a:off x="10926961" y="1666875"/>
            <a:ext cx="3261320" cy="38100"/>
          </a:xfrm>
          <a:prstGeom prst="rect">
            <a:avLst/>
          </a:prstGeom>
          <a:solidFill>
            <a:srgbClr val="0B2E4F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27" name="Text 25"/>
          <p:cNvSpPr/>
          <p:nvPr/>
        </p:nvSpPr>
        <p:spPr>
          <a:xfrm>
            <a:off x="11079361" y="1838325"/>
            <a:ext cx="325217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b="1" dirty="0">
                <a:solidFill>
                  <a:srgbClr val="0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Добыча</a:t>
            </a:r>
            <a:endParaRPr lang="en-US" sz="1725" dirty="0"/>
          </a:p>
        </p:txBody>
      </p:sp>
      <p:sp>
        <p:nvSpPr>
          <p:cNvPr id="28" name="Text 26"/>
          <p:cNvSpPr/>
          <p:nvPr/>
        </p:nvSpPr>
        <p:spPr>
          <a:xfrm>
            <a:off x="11079361" y="2181225"/>
            <a:ext cx="3045216" cy="1012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941"/>
              </a:lnSpc>
              <a:buNone/>
            </a:pPr>
            <a:r>
              <a:rPr lang="en-US" sz="1500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Отсутствие процессов интегрированного моделирования и планирования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1079361" y="3232150"/>
            <a:ext cx="3045216" cy="1012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941"/>
              </a:lnSpc>
              <a:buNone/>
            </a:pPr>
            <a:r>
              <a:rPr lang="en-US" sz="1500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Нет автоматического план-факт анализа ГТМ: эффект от ГРП считается постфактум в Excel с ошибками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11079361" y="4283075"/>
            <a:ext cx="3045216" cy="8298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500"/>
              </a:lnSpc>
              <a:buNone/>
            </a:pPr>
            <a:r>
              <a:rPr lang="en-US" sz="1575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Большой объём ежедневной ручной работы по подготовке отчётности</a:t>
            </a:r>
            <a:endParaRPr lang="en-US" sz="1575" dirty="0"/>
          </a:p>
        </p:txBody>
      </p:sp>
      <p:sp>
        <p:nvSpPr>
          <p:cNvPr id="31" name="Shape 29"/>
          <p:cNvSpPr/>
          <p:nvPr/>
        </p:nvSpPr>
        <p:spPr>
          <a:xfrm>
            <a:off x="14340682" y="1666875"/>
            <a:ext cx="3261320" cy="5127228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32" name="Shape 30"/>
          <p:cNvSpPr/>
          <p:nvPr/>
        </p:nvSpPr>
        <p:spPr>
          <a:xfrm>
            <a:off x="14340682" y="1666875"/>
            <a:ext cx="3261320" cy="38100"/>
          </a:xfrm>
          <a:prstGeom prst="rect">
            <a:avLst/>
          </a:prstGeom>
          <a:solidFill>
            <a:srgbClr val="0B2E4F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33" name="Text 31"/>
          <p:cNvSpPr/>
          <p:nvPr/>
        </p:nvSpPr>
        <p:spPr>
          <a:xfrm>
            <a:off x="14493082" y="1838325"/>
            <a:ext cx="3045216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b="1" dirty="0">
                <a:solidFill>
                  <a:srgbClr val="0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КС и наземная инфраструктура</a:t>
            </a:r>
            <a:endParaRPr lang="en-US" sz="1725" dirty="0"/>
          </a:p>
        </p:txBody>
      </p:sp>
      <p:sp>
        <p:nvSpPr>
          <p:cNvPr id="34" name="Text 32"/>
          <p:cNvSpPr/>
          <p:nvPr/>
        </p:nvSpPr>
        <p:spPr>
          <a:xfrm>
            <a:off x="14493082" y="2447925"/>
            <a:ext cx="3045216" cy="1500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941"/>
              </a:lnSpc>
              <a:buNone/>
            </a:pPr>
            <a:r>
              <a:rPr lang="en-US" sz="1500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Отсутствует процесс концептуального инжиниринга; при отказе КМГИ от небольших проектов они затягиваются более 6 месяцев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14493082" y="3986213"/>
            <a:ext cx="3045216" cy="10937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500"/>
              </a:lnSpc>
              <a:buNone/>
            </a:pPr>
            <a:r>
              <a:rPr lang="en-US" sz="1575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Формирование бизнес-плана идёт без гидравлических расчётов и учёта модели наземной инфраструктуры</a:t>
            </a:r>
            <a:endParaRPr lang="en-US" sz="1575" dirty="0"/>
          </a:p>
        </p:txBody>
      </p:sp>
      <p:sp>
        <p:nvSpPr>
          <p:cNvPr id="36" name="Text 34"/>
          <p:cNvSpPr/>
          <p:nvPr/>
        </p:nvSpPr>
        <p:spPr>
          <a:xfrm>
            <a:off x="14493082" y="5118100"/>
            <a:ext cx="3045216" cy="1012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941"/>
              </a:lnSpc>
              <a:buNone/>
            </a:pPr>
            <a:r>
              <a:rPr lang="en-US" sz="1500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Концептуальное проектирование без опоры на ГГДМ и базу оптимальных технических решений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685800" y="6927453"/>
            <a:ext cx="16916400" cy="774700"/>
          </a:xfrm>
          <a:prstGeom prst="rect">
            <a:avLst/>
          </a:prstGeom>
          <a:solidFill>
            <a:srgbClr val="0B2E4F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38" name="Text 36"/>
          <p:cNvSpPr/>
          <p:nvPr/>
        </p:nvSpPr>
        <p:spPr>
          <a:xfrm>
            <a:off x="914400" y="7060803"/>
            <a:ext cx="16966692" cy="546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Сквозной вывод: отсутствует единый методологический слой и единый слой хранения, обработки и аналитики данных для автоматизированного обмена между службами</a:t>
            </a:r>
            <a:endParaRPr lang="en-US" sz="1650" dirty="0"/>
          </a:p>
        </p:txBody>
      </p:sp>
      <p:sp>
        <p:nvSpPr>
          <p:cNvPr id="39" name="Shape 37"/>
          <p:cNvSpPr/>
          <p:nvPr/>
        </p:nvSpPr>
        <p:spPr>
          <a:xfrm>
            <a:off x="685800" y="7835503"/>
            <a:ext cx="16916400" cy="12700"/>
          </a:xfrm>
          <a:prstGeom prst="rect">
            <a:avLst/>
          </a:prstGeom>
          <a:solidFill>
            <a:srgbClr val="D5DEE6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40" name="Text 38"/>
          <p:cNvSpPr/>
          <p:nvPr/>
        </p:nvSpPr>
        <p:spPr>
          <a:xfrm>
            <a:off x="685800" y="7943454"/>
            <a:ext cx="1860804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 kern="0" spc="90" dirty="0">
                <a:solidFill>
                  <a:srgbClr val="849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СОКРАЩЕНИЯ И ОПРЕДЕЛЕНИЯ</a:t>
            </a:r>
            <a:endParaRPr lang="en-US" sz="1125" dirty="0"/>
          </a:p>
        </p:txBody>
      </p:sp>
      <p:sp>
        <p:nvSpPr>
          <p:cNvPr id="41" name="Text 39"/>
          <p:cNvSpPr/>
          <p:nvPr/>
        </p:nvSpPr>
        <p:spPr>
          <a:xfrm>
            <a:off x="685800" y="8153004"/>
            <a:ext cx="4400550" cy="251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ВНС — ввод новых скважин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4991100" y="8153004"/>
            <a:ext cx="4400550" cy="251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ГРП — гидравлический разрыв пласта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9296400" y="8153004"/>
            <a:ext cx="4400550" cy="251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КС — капитальное строительство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13601700" y="8153004"/>
            <a:ext cx="4400550" cy="251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ПРС — подземный ремонт скважин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685800" y="8394899"/>
            <a:ext cx="4400550" cy="251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ВСР — внутрискважинные работы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4991100" y="8394899"/>
            <a:ext cx="4400550" cy="251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ГРР — геологоразведочные работы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9296400" y="8394899"/>
            <a:ext cx="4400550" cy="251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КХД — корпоративное хранилище данных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13601700" y="8394899"/>
            <a:ext cx="4400550" cy="251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ТКРС — текущий и капитальный ремонт скважин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685800" y="8636794"/>
            <a:ext cx="4400550" cy="251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ГГДМ — геолого-гидродинамическая модель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4991100" y="8636794"/>
            <a:ext cx="4400550" cy="251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ГТМ — геолого-технические мероприятия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9296400" y="8636794"/>
            <a:ext cx="4400550" cy="251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НПВ — непроизводительное время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13601700" y="8636794"/>
            <a:ext cx="4400550" cy="251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ЦД — цифровой двойник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685800" y="8878689"/>
            <a:ext cx="4400550" cy="251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ГДМ — гидродинамическая модель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4991100" y="8878689"/>
            <a:ext cx="4400550" cy="251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ДЗО — дочерние и зависимые организации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9296400" y="8878689"/>
            <a:ext cx="4400550" cy="251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НСИ — нормативно-справочная информация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13601700" y="8878689"/>
            <a:ext cx="4400550" cy="251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ESB — корпоративная интеграционная шина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685800" y="9120585"/>
            <a:ext cx="4400550" cy="251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ГИС — геофизические исследования скважин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4991100" y="9120585"/>
            <a:ext cx="4400550" cy="251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КИН — коэффициент извлечения нефти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9296400" y="9120585"/>
            <a:ext cx="4400550" cy="251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ППД — поддержание пластового давления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13601700" y="9120585"/>
            <a:ext cx="4400550" cy="251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MDM — система управления НСИ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685800" y="9362480"/>
            <a:ext cx="4400550" cy="251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ГНО — глубинно-насосное оборудование</a:t>
            </a:r>
            <a:endParaRPr lang="en-US" sz="1200" dirty="0"/>
          </a:p>
        </p:txBody>
      </p:sp>
      <p:sp>
        <p:nvSpPr>
          <p:cNvPr id="62" name="Text 60"/>
          <p:cNvSpPr/>
          <p:nvPr/>
        </p:nvSpPr>
        <p:spPr>
          <a:xfrm>
            <a:off x="4991100" y="9362480"/>
            <a:ext cx="4400550" cy="251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КРС — капитальный ремонт скважин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9296400" y="9362480"/>
            <a:ext cx="4400550" cy="251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ПРБ — поисково-разведочное бурение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13601700" y="9362480"/>
            <a:ext cx="4400550" cy="251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 — индекс доходности проекта</a:t>
            </a:r>
            <a:endParaRPr lang="en-US" sz="1200" dirty="0"/>
          </a:p>
        </p:txBody>
      </p:sp>
      <p:sp>
        <p:nvSpPr>
          <p:cNvPr id="65" name="Shape 63"/>
          <p:cNvSpPr/>
          <p:nvPr/>
        </p:nvSpPr>
        <p:spPr>
          <a:xfrm>
            <a:off x="685800" y="9671050"/>
            <a:ext cx="16916400" cy="12700"/>
          </a:xfrm>
          <a:prstGeom prst="rect">
            <a:avLst/>
          </a:prstGeom>
          <a:solidFill>
            <a:srgbClr val="D5DEE6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66" name="Text 64"/>
          <p:cNvSpPr/>
          <p:nvPr/>
        </p:nvSpPr>
        <p:spPr>
          <a:xfrm>
            <a:off x="685800" y="9779001"/>
            <a:ext cx="5729228" cy="241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849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Источник: отчёт «ENROX OIL &amp; GAS FIELDS SERVICES - FZCO»</a:t>
            </a:r>
            <a:endParaRPr lang="en-US" sz="1350" dirty="0"/>
          </a:p>
        </p:txBody>
      </p:sp>
      <p:sp>
        <p:nvSpPr>
          <p:cNvPr id="67" name="Text 65"/>
          <p:cNvSpPr/>
          <p:nvPr/>
        </p:nvSpPr>
        <p:spPr>
          <a:xfrm>
            <a:off x="17388086" y="9779001"/>
            <a:ext cx="290314" cy="241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849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95300"/>
            <a:ext cx="15697200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882"/>
              </a:lnSpc>
              <a:buNone/>
            </a:pPr>
            <a:r>
              <a:rPr lang="en-US" sz="3000" b="1" dirty="0">
                <a:solidFill>
                  <a:srgbClr val="0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Текущий инженерный ИТ-ландшафт цепочки КЦ — КМГИ — ЭМГ нуждается в пересборке более чем на 50%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09600" y="1504950"/>
            <a:ext cx="18775680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Согласно предлагаемой концепции цифрового двойника актива Молдабек В.</a:t>
            </a:r>
            <a:endParaRPr lang="en-US" sz="1575" dirty="0"/>
          </a:p>
        </p:txBody>
      </p:sp>
      <p:sp>
        <p:nvSpPr>
          <p:cNvPr id="4" name="Shape 2"/>
          <p:cNvSpPr/>
          <p:nvPr/>
        </p:nvSpPr>
        <p:spPr>
          <a:xfrm>
            <a:off x="609600" y="1879600"/>
            <a:ext cx="17068800" cy="9525"/>
          </a:xfrm>
          <a:prstGeom prst="rect">
            <a:avLst/>
          </a:prstGeom>
          <a:solidFill>
            <a:srgbClr val="D5DEE6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5" name="Text 3"/>
          <p:cNvSpPr/>
          <p:nvPr/>
        </p:nvSpPr>
        <p:spPr>
          <a:xfrm>
            <a:off x="609600" y="2117725"/>
            <a:ext cx="3637657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66" dirty="0">
                <a:solidFill>
                  <a:srgbClr val="0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ГЕОЛОГОРАЗВЕДКА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609600" y="2435225"/>
            <a:ext cx="3306961" cy="4436666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7" name="Shape 5"/>
          <p:cNvSpPr/>
          <p:nvPr/>
        </p:nvSpPr>
        <p:spPr>
          <a:xfrm>
            <a:off x="609600" y="2435225"/>
            <a:ext cx="25400" cy="4436666"/>
          </a:xfrm>
          <a:prstGeom prst="rect">
            <a:avLst/>
          </a:prstGeom>
          <a:solidFill>
            <a:srgbClr val="1F5C96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8" name="Text 6"/>
          <p:cNvSpPr/>
          <p:nvPr/>
        </p:nvSpPr>
        <p:spPr>
          <a:xfrm>
            <a:off x="787400" y="2568575"/>
            <a:ext cx="3075970" cy="42080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3316"/>
              </a:lnSpc>
              <a:buNone/>
            </a:pPr>
            <a:r>
              <a:rPr lang="en-US" sz="1650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ABAI. База данных · HampsonRussell, Saphir · tNavigator · PVTi/PVTSim · ProSource · Eclipse · Techlog · Petrel · CoreDraw · Spark, Kingdom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609600" y="6948091"/>
            <a:ext cx="3306961" cy="6985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6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0" name="Text 8"/>
          <p:cNvSpPr/>
          <p:nvPr/>
        </p:nvSpPr>
        <p:spPr>
          <a:xfrm>
            <a:off x="774700" y="7056041"/>
            <a:ext cx="3075970" cy="520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 Outlook, Excel, Word, PowerPoint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049911" y="2117725"/>
            <a:ext cx="3637875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66" dirty="0">
                <a:solidFill>
                  <a:srgbClr val="0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ГЕОЛОГИЯ И РАЗРАБОТКА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4049911" y="2435225"/>
            <a:ext cx="3307159" cy="4436666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3" name="Shape 11"/>
          <p:cNvSpPr/>
          <p:nvPr/>
        </p:nvSpPr>
        <p:spPr>
          <a:xfrm>
            <a:off x="4049911" y="2435225"/>
            <a:ext cx="25400" cy="4436666"/>
          </a:xfrm>
          <a:prstGeom prst="rect">
            <a:avLst/>
          </a:prstGeom>
          <a:solidFill>
            <a:srgbClr val="1F5C96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4" name="Text 12"/>
          <p:cNvSpPr/>
          <p:nvPr/>
        </p:nvSpPr>
        <p:spPr>
          <a:xfrm>
            <a:off x="4227711" y="2568575"/>
            <a:ext cx="3076174" cy="42080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3316"/>
              </a:lnSpc>
              <a:buNone/>
            </a:pPr>
            <a:r>
              <a:rPr lang="en-US" sz="1650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ABAI. База данных · Жулдыз · OFM · ABAI. ПиАЭГТМ и Центр визуализации · Qportal, QAZSTAT, Самрук-Казына, ЦОН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4049911" y="6948091"/>
            <a:ext cx="3307159" cy="6985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6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6" name="Text 14"/>
          <p:cNvSpPr/>
          <p:nvPr/>
        </p:nvSpPr>
        <p:spPr>
          <a:xfrm>
            <a:off x="4215011" y="7056041"/>
            <a:ext cx="3076174" cy="520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 Outlook, Excel, Word, PowerPoint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490421" y="2117725"/>
            <a:ext cx="3637657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66" dirty="0">
                <a:solidFill>
                  <a:srgbClr val="0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КС И НАЗЕМНАЯ ИНФР-РА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7490421" y="2435225"/>
            <a:ext cx="3306961" cy="4436666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9" name="Shape 17"/>
          <p:cNvSpPr/>
          <p:nvPr/>
        </p:nvSpPr>
        <p:spPr>
          <a:xfrm>
            <a:off x="7490421" y="2435225"/>
            <a:ext cx="25400" cy="4436666"/>
          </a:xfrm>
          <a:prstGeom prst="rect">
            <a:avLst/>
          </a:prstGeom>
          <a:solidFill>
            <a:srgbClr val="1F5C96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20" name="Text 18"/>
          <p:cNvSpPr/>
          <p:nvPr/>
        </p:nvSpPr>
        <p:spPr>
          <a:xfrm>
            <a:off x="7668221" y="2568575"/>
            <a:ext cx="3075970" cy="42080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3316"/>
              </a:lnSpc>
              <a:buNone/>
            </a:pPr>
            <a:r>
              <a:rPr lang="en-US" sz="1650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SAP, AVR, E-PASS, Lotus Notes · eQurylys, eLicense · SAS FM · ABC-4 · AutoCAD · PIPESIM · UniSim · Questor · Directum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7490421" y="6948091"/>
            <a:ext cx="3306961" cy="6985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6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2" name="Text 20"/>
          <p:cNvSpPr/>
          <p:nvPr/>
        </p:nvSpPr>
        <p:spPr>
          <a:xfrm>
            <a:off x="7655521" y="7056041"/>
            <a:ext cx="3075970" cy="520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 Outlook, Excel, Word, PowerPoint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0930732" y="2117725"/>
            <a:ext cx="3637875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66" dirty="0">
                <a:solidFill>
                  <a:srgbClr val="0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БУРЕНИЕ И ТКРС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10930732" y="2435225"/>
            <a:ext cx="3307159" cy="4436666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25" name="Shape 23"/>
          <p:cNvSpPr/>
          <p:nvPr/>
        </p:nvSpPr>
        <p:spPr>
          <a:xfrm>
            <a:off x="10930732" y="2435225"/>
            <a:ext cx="25400" cy="4436666"/>
          </a:xfrm>
          <a:prstGeom prst="rect">
            <a:avLst/>
          </a:prstGeom>
          <a:solidFill>
            <a:srgbClr val="1F5C96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26" name="Text 24"/>
          <p:cNvSpPr/>
          <p:nvPr/>
        </p:nvSpPr>
        <p:spPr>
          <a:xfrm>
            <a:off x="11108532" y="2568575"/>
            <a:ext cx="3076174" cy="42080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3316"/>
              </a:lnSpc>
              <a:buNone/>
            </a:pPr>
            <a:r>
              <a:rPr lang="en-US" sz="1650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ABAI. База данных · Sysdrill · tNavigator, Landmark · Solo box, DrillSpot, PELOTON · StarSteer · ДЭЛ-140/150 · WellPlan · СУ ШГН · ЕКПД · ABP+ · АСРПРС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10930732" y="6948091"/>
            <a:ext cx="3307159" cy="6985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6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8" name="Text 26"/>
          <p:cNvSpPr/>
          <p:nvPr/>
        </p:nvSpPr>
        <p:spPr>
          <a:xfrm>
            <a:off x="11095832" y="7056041"/>
            <a:ext cx="3076174" cy="520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 Outlook, Excel, Word, PowerPoint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4371241" y="2117725"/>
            <a:ext cx="3637657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66" dirty="0">
                <a:solidFill>
                  <a:srgbClr val="0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ДОБЫЧА</a:t>
            </a:r>
            <a:endParaRPr lang="en-US" sz="1650" dirty="0"/>
          </a:p>
        </p:txBody>
      </p:sp>
      <p:sp>
        <p:nvSpPr>
          <p:cNvPr id="30" name="Shape 28"/>
          <p:cNvSpPr/>
          <p:nvPr/>
        </p:nvSpPr>
        <p:spPr>
          <a:xfrm>
            <a:off x="14371241" y="2435225"/>
            <a:ext cx="3306961" cy="4436666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31" name="Shape 29"/>
          <p:cNvSpPr/>
          <p:nvPr/>
        </p:nvSpPr>
        <p:spPr>
          <a:xfrm>
            <a:off x="14371241" y="2435225"/>
            <a:ext cx="25400" cy="4436666"/>
          </a:xfrm>
          <a:prstGeom prst="rect">
            <a:avLst/>
          </a:prstGeom>
          <a:solidFill>
            <a:srgbClr val="1F5C96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32" name="Text 30"/>
          <p:cNvSpPr/>
          <p:nvPr/>
        </p:nvSpPr>
        <p:spPr>
          <a:xfrm>
            <a:off x="14549041" y="2568575"/>
            <a:ext cx="3075970" cy="42080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3316"/>
              </a:lnSpc>
              <a:buNone/>
            </a:pPr>
            <a:r>
              <a:rPr lang="en-US" sz="1650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SAP ERP · ABAI (учёт добычи, техрежимы, паспорта ГНО) · Greendata · СДМО Мирол · ИМ (Интеллектуальное месторождение) · АСКУЭ/АСТУЭ · SAP ERP ТОРО · SCADA (WinCC, DeltaV) · Directum</a:t>
            </a:r>
            <a:endParaRPr lang="en-US" sz="1650" dirty="0"/>
          </a:p>
        </p:txBody>
      </p:sp>
      <p:sp>
        <p:nvSpPr>
          <p:cNvPr id="33" name="Shape 31"/>
          <p:cNvSpPr/>
          <p:nvPr/>
        </p:nvSpPr>
        <p:spPr>
          <a:xfrm>
            <a:off x="14371241" y="6948091"/>
            <a:ext cx="3306961" cy="6985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6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4" name="Text 32"/>
          <p:cNvSpPr/>
          <p:nvPr/>
        </p:nvSpPr>
        <p:spPr>
          <a:xfrm>
            <a:off x="14536341" y="7056041"/>
            <a:ext cx="3075970" cy="520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 Outlook, Excel, Word, PowerPoint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609600" y="7818041"/>
            <a:ext cx="3306961" cy="1586309"/>
          </a:xfrm>
          <a:prstGeom prst="rect">
            <a:avLst/>
          </a:prstGeom>
          <a:solidFill>
            <a:srgbClr val="0B2E4F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36" name="Text 34"/>
          <p:cNvSpPr/>
          <p:nvPr/>
        </p:nvSpPr>
        <p:spPr>
          <a:xfrm>
            <a:off x="762000" y="7951391"/>
            <a:ext cx="3101370" cy="13577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5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Отсутствует единый интеграционный слой</a:t>
            </a:r>
            <a:endParaRPr lang="en-US" sz="1575" dirty="0"/>
          </a:p>
        </p:txBody>
      </p:sp>
      <p:sp>
        <p:nvSpPr>
          <p:cNvPr id="37" name="Shape 35"/>
          <p:cNvSpPr/>
          <p:nvPr/>
        </p:nvSpPr>
        <p:spPr>
          <a:xfrm>
            <a:off x="4049911" y="7818041"/>
            <a:ext cx="3307159" cy="1586309"/>
          </a:xfrm>
          <a:prstGeom prst="rect">
            <a:avLst/>
          </a:prstGeom>
          <a:solidFill>
            <a:srgbClr val="0B2E4F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38" name="Text 36"/>
          <p:cNvSpPr/>
          <p:nvPr/>
        </p:nvSpPr>
        <p:spPr>
          <a:xfrm>
            <a:off x="4202311" y="7951391"/>
            <a:ext cx="3101574" cy="13577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5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Практически не автоматизирован ввод информации в инженерные системы по всей цепочке Upstream</a:t>
            </a:r>
            <a:endParaRPr lang="en-US" sz="1575" dirty="0"/>
          </a:p>
        </p:txBody>
      </p:sp>
      <p:sp>
        <p:nvSpPr>
          <p:cNvPr id="39" name="Shape 37"/>
          <p:cNvSpPr/>
          <p:nvPr/>
        </p:nvSpPr>
        <p:spPr>
          <a:xfrm>
            <a:off x="7490421" y="7818041"/>
            <a:ext cx="3306961" cy="1586309"/>
          </a:xfrm>
          <a:prstGeom prst="rect">
            <a:avLst/>
          </a:prstGeom>
          <a:solidFill>
            <a:srgbClr val="0B2E4F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40" name="Text 38"/>
          <p:cNvSpPr/>
          <p:nvPr/>
        </p:nvSpPr>
        <p:spPr>
          <a:xfrm>
            <a:off x="7642821" y="7951391"/>
            <a:ext cx="3101370" cy="13577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5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Высокая гранулярность ИТ-ландшафта по каждому из направлений</a:t>
            </a:r>
            <a:endParaRPr lang="en-US" sz="1575" dirty="0"/>
          </a:p>
        </p:txBody>
      </p:sp>
      <p:sp>
        <p:nvSpPr>
          <p:cNvPr id="41" name="Shape 39"/>
          <p:cNvSpPr/>
          <p:nvPr/>
        </p:nvSpPr>
        <p:spPr>
          <a:xfrm>
            <a:off x="10930732" y="7818041"/>
            <a:ext cx="3307159" cy="1586309"/>
          </a:xfrm>
          <a:prstGeom prst="rect">
            <a:avLst/>
          </a:prstGeom>
          <a:solidFill>
            <a:srgbClr val="0B2E4F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42" name="Text 40"/>
          <p:cNvSpPr/>
          <p:nvPr/>
        </p:nvSpPr>
        <p:spPr>
          <a:xfrm>
            <a:off x="11083132" y="7951391"/>
            <a:ext cx="3101574" cy="13577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5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Обмен данными через Outlook</a:t>
            </a:r>
            <a:endParaRPr lang="en-US" sz="1575" dirty="0"/>
          </a:p>
        </p:txBody>
      </p:sp>
      <p:sp>
        <p:nvSpPr>
          <p:cNvPr id="43" name="Shape 41"/>
          <p:cNvSpPr/>
          <p:nvPr/>
        </p:nvSpPr>
        <p:spPr>
          <a:xfrm>
            <a:off x="14371241" y="7818041"/>
            <a:ext cx="3306961" cy="1586309"/>
          </a:xfrm>
          <a:prstGeom prst="rect">
            <a:avLst/>
          </a:prstGeom>
          <a:solidFill>
            <a:srgbClr val="0B2E4F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44" name="Text 42"/>
          <p:cNvSpPr/>
          <p:nvPr/>
        </p:nvSpPr>
        <p:spPr>
          <a:xfrm>
            <a:off x="14523641" y="7951391"/>
            <a:ext cx="3101370" cy="13577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5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Первичный ввод одних и тех же данных в разные системы с различными значениями</a:t>
            </a:r>
            <a:endParaRPr lang="en-US" sz="1575" dirty="0"/>
          </a:p>
        </p:txBody>
      </p:sp>
      <p:sp>
        <p:nvSpPr>
          <p:cNvPr id="45" name="Shape 43"/>
          <p:cNvSpPr/>
          <p:nvPr/>
        </p:nvSpPr>
        <p:spPr>
          <a:xfrm>
            <a:off x="609600" y="9556750"/>
            <a:ext cx="17068800" cy="12700"/>
          </a:xfrm>
          <a:prstGeom prst="rect">
            <a:avLst/>
          </a:prstGeom>
          <a:solidFill>
            <a:srgbClr val="D5DEE6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46" name="Text 44"/>
          <p:cNvSpPr/>
          <p:nvPr/>
        </p:nvSpPr>
        <p:spPr>
          <a:xfrm>
            <a:off x="609600" y="9702800"/>
            <a:ext cx="5729228" cy="241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849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Источник: отчёт «ENROX OIL &amp; GAS FIELDS SERVICES - FZCO»</a:t>
            </a:r>
            <a:endParaRPr lang="en-US" sz="1350" dirty="0"/>
          </a:p>
        </p:txBody>
      </p:sp>
      <p:sp>
        <p:nvSpPr>
          <p:cNvPr id="47" name="Text 45"/>
          <p:cNvSpPr/>
          <p:nvPr/>
        </p:nvSpPr>
        <p:spPr>
          <a:xfrm>
            <a:off x="17459325" y="9702800"/>
            <a:ext cx="295275" cy="241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849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95300"/>
            <a:ext cx="18775680" cy="508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150" b="1" dirty="0">
                <a:solidFill>
                  <a:srgbClr val="0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Концептуальная архитектура Цифрового двойника актива</a:t>
            </a:r>
            <a:endParaRPr lang="en-US" sz="3150" dirty="0"/>
          </a:p>
        </p:txBody>
      </p:sp>
      <p:sp>
        <p:nvSpPr>
          <p:cNvPr id="3" name="Text 1"/>
          <p:cNvSpPr/>
          <p:nvPr/>
        </p:nvSpPr>
        <p:spPr>
          <a:xfrm>
            <a:off x="609600" y="1060450"/>
            <a:ext cx="18775680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Согласно предлагаемой концепции цифрового двойника актива Молдабек В.</a:t>
            </a:r>
            <a:endParaRPr lang="en-US" sz="1575" dirty="0"/>
          </a:p>
        </p:txBody>
      </p:sp>
      <p:sp>
        <p:nvSpPr>
          <p:cNvPr id="4" name="Shape 2"/>
          <p:cNvSpPr/>
          <p:nvPr/>
        </p:nvSpPr>
        <p:spPr>
          <a:xfrm>
            <a:off x="609600" y="1435100"/>
            <a:ext cx="17068800" cy="9525"/>
          </a:xfrm>
          <a:prstGeom prst="rect">
            <a:avLst/>
          </a:prstGeom>
          <a:solidFill>
            <a:srgbClr val="D5DEE6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5" name="Shape 3"/>
          <p:cNvSpPr/>
          <p:nvPr/>
        </p:nvSpPr>
        <p:spPr>
          <a:xfrm>
            <a:off x="609600" y="1654175"/>
            <a:ext cx="13639800" cy="609600"/>
          </a:xfrm>
          <a:prstGeom prst="rect">
            <a:avLst/>
          </a:prstGeom>
          <a:solidFill>
            <a:srgbClr val="0B2E4F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6" name="Text 4"/>
          <p:cNvSpPr/>
          <p:nvPr/>
        </p:nvSpPr>
        <p:spPr>
          <a:xfrm>
            <a:off x="819150" y="1825625"/>
            <a:ext cx="672873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b="1" kern="0" spc="69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ЕДИНАЯ ПЛАТФОРМА: ЦИФРОВОЙ ДВОЙНИК АКТИВА</a:t>
            </a:r>
            <a:endParaRPr lang="en-US" sz="1725" dirty="0"/>
          </a:p>
        </p:txBody>
      </p:sp>
      <p:sp>
        <p:nvSpPr>
          <p:cNvPr id="7" name="Shape 5"/>
          <p:cNvSpPr/>
          <p:nvPr/>
        </p:nvSpPr>
        <p:spPr>
          <a:xfrm>
            <a:off x="11452225" y="1787525"/>
            <a:ext cx="1197372" cy="3429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8" name="Text 6"/>
          <p:cNvSpPr/>
          <p:nvPr/>
        </p:nvSpPr>
        <p:spPr>
          <a:xfrm>
            <a:off x="11604625" y="1844675"/>
            <a:ext cx="96877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b="1" dirty="0">
                <a:solidFill>
                  <a:srgbClr val="0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AI-агенты</a:t>
            </a:r>
            <a:endParaRPr lang="en-US" sz="1575" dirty="0"/>
          </a:p>
        </p:txBody>
      </p:sp>
      <p:sp>
        <p:nvSpPr>
          <p:cNvPr id="9" name="Shape 7"/>
          <p:cNvSpPr/>
          <p:nvPr/>
        </p:nvSpPr>
        <p:spPr>
          <a:xfrm>
            <a:off x="12744848" y="1787525"/>
            <a:ext cx="1295003" cy="3429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0" name="Text 8"/>
          <p:cNvSpPr/>
          <p:nvPr/>
        </p:nvSpPr>
        <p:spPr>
          <a:xfrm>
            <a:off x="12897248" y="1844675"/>
            <a:ext cx="106640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b="1" dirty="0">
                <a:solidFill>
                  <a:srgbClr val="0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Аналитика</a:t>
            </a:r>
            <a:endParaRPr lang="en-US" sz="1575" dirty="0"/>
          </a:p>
        </p:txBody>
      </p:sp>
      <p:sp>
        <p:nvSpPr>
          <p:cNvPr id="11" name="Shape 9"/>
          <p:cNvSpPr/>
          <p:nvPr/>
        </p:nvSpPr>
        <p:spPr>
          <a:xfrm>
            <a:off x="609600" y="2378075"/>
            <a:ext cx="4470400" cy="1862534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2" name="Shape 10"/>
          <p:cNvSpPr/>
          <p:nvPr/>
        </p:nvSpPr>
        <p:spPr>
          <a:xfrm>
            <a:off x="609600" y="2378075"/>
            <a:ext cx="4470400" cy="38100"/>
          </a:xfrm>
          <a:prstGeom prst="rect">
            <a:avLst/>
          </a:prstGeom>
          <a:solidFill>
            <a:srgbClr val="1F5C96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3" name="Text 11"/>
          <p:cNvSpPr/>
          <p:nvPr/>
        </p:nvSpPr>
        <p:spPr>
          <a:xfrm>
            <a:off x="781050" y="2568575"/>
            <a:ext cx="4540250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ЦД ПЛАСТА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781050" y="2876550"/>
            <a:ext cx="4540250" cy="3020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500"/>
              </a:lnSpc>
              <a:buNone/>
            </a:pPr>
            <a:r>
              <a:rPr lang="en-US" sz="1575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Расчёт бизнес-кейсов</a:t>
            </a:r>
            <a:endParaRPr lang="en-US" sz="1575" dirty="0"/>
          </a:p>
        </p:txBody>
      </p:sp>
      <p:sp>
        <p:nvSpPr>
          <p:cNvPr id="15" name="Text 13"/>
          <p:cNvSpPr/>
          <p:nvPr/>
        </p:nvSpPr>
        <p:spPr>
          <a:xfrm>
            <a:off x="781050" y="3207147"/>
            <a:ext cx="4540250" cy="281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941"/>
              </a:lnSpc>
              <a:buNone/>
            </a:pPr>
            <a:r>
              <a:rPr lang="en-US" sz="1500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План разработки месторождения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81050" y="3517503"/>
            <a:ext cx="4540250" cy="281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941"/>
              </a:lnSpc>
              <a:buNone/>
            </a:pPr>
            <a:r>
              <a:rPr lang="en-US" sz="1500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Планирование от потенциала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81050" y="3846909"/>
            <a:ext cx="4540250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t-Nav · ABAI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194300" y="2378075"/>
            <a:ext cx="4470400" cy="1862534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9" name="Shape 17"/>
          <p:cNvSpPr/>
          <p:nvPr/>
        </p:nvSpPr>
        <p:spPr>
          <a:xfrm>
            <a:off x="5194300" y="2378075"/>
            <a:ext cx="4470400" cy="38100"/>
          </a:xfrm>
          <a:prstGeom prst="rect">
            <a:avLst/>
          </a:prstGeom>
          <a:solidFill>
            <a:srgbClr val="1F5C96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20" name="Text 18"/>
          <p:cNvSpPr/>
          <p:nvPr/>
        </p:nvSpPr>
        <p:spPr>
          <a:xfrm>
            <a:off x="5365750" y="2568575"/>
            <a:ext cx="4540250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ЦД СКВАЖИНЫ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5365750" y="2876550"/>
            <a:ext cx="4540250" cy="281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941"/>
              </a:lnSpc>
              <a:buNone/>
            </a:pPr>
            <a:r>
              <a:rPr lang="en-US" sz="1500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Оптимизация операций ТКРС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365750" y="3186906"/>
            <a:ext cx="4540250" cy="3020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500"/>
              </a:lnSpc>
              <a:buNone/>
            </a:pPr>
            <a:r>
              <a:rPr lang="en-US" sz="1575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Сокращение сроков ввода скважины</a:t>
            </a:r>
            <a:endParaRPr lang="en-US" sz="1575" dirty="0"/>
          </a:p>
        </p:txBody>
      </p:sp>
      <p:sp>
        <p:nvSpPr>
          <p:cNvPr id="23" name="Text 21"/>
          <p:cNvSpPr/>
          <p:nvPr/>
        </p:nvSpPr>
        <p:spPr>
          <a:xfrm>
            <a:off x="5365750" y="3517503"/>
            <a:ext cx="4540250" cy="281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941"/>
              </a:lnSpc>
              <a:buNone/>
            </a:pPr>
            <a:r>
              <a:rPr lang="en-US" sz="1500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Мониторинг бурения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9779001" y="2378075"/>
            <a:ext cx="4470400" cy="1862534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25" name="Shape 23"/>
          <p:cNvSpPr/>
          <p:nvPr/>
        </p:nvSpPr>
        <p:spPr>
          <a:xfrm>
            <a:off x="9779001" y="2378075"/>
            <a:ext cx="4470400" cy="38100"/>
          </a:xfrm>
          <a:prstGeom prst="rect">
            <a:avLst/>
          </a:prstGeom>
          <a:solidFill>
            <a:srgbClr val="1F5C96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26" name="Text 24"/>
          <p:cNvSpPr/>
          <p:nvPr/>
        </p:nvSpPr>
        <p:spPr>
          <a:xfrm>
            <a:off x="9950451" y="2568575"/>
            <a:ext cx="4540250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ЦД ДОБЫЧИ И НАЗЕМНОЙ ИНФР-РЫ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9950451" y="2876550"/>
            <a:ext cx="4540250" cy="3020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500"/>
              </a:lnSpc>
              <a:buNone/>
            </a:pPr>
            <a:r>
              <a:rPr lang="en-US" sz="1575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Регулировка режима работы скважин</a:t>
            </a:r>
            <a:endParaRPr lang="en-US" sz="1575" dirty="0"/>
          </a:p>
        </p:txBody>
      </p:sp>
      <p:sp>
        <p:nvSpPr>
          <p:cNvPr id="28" name="Text 26"/>
          <p:cNvSpPr/>
          <p:nvPr/>
        </p:nvSpPr>
        <p:spPr>
          <a:xfrm>
            <a:off x="9950451" y="3207147"/>
            <a:ext cx="4540250" cy="281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941"/>
              </a:lnSpc>
              <a:buNone/>
            </a:pPr>
            <a:r>
              <a:rPr lang="en-US" sz="1500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Энергоэффективность инфраструктуры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9950451" y="3517503"/>
            <a:ext cx="4540250" cy="281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941"/>
              </a:lnSpc>
              <a:buNone/>
            </a:pPr>
            <a:r>
              <a:rPr lang="en-US" sz="1500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Эффективность технических мероприятий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9950451" y="3846909"/>
            <a:ext cx="4540250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ABAI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609600" y="4354909"/>
            <a:ext cx="13639800" cy="1717491"/>
          </a:xfrm>
          <a:prstGeom prst="rect">
            <a:avLst/>
          </a:prstGeom>
          <a:solidFill>
            <a:srgbClr val="E8EEF4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32" name="Shape 30"/>
          <p:cNvSpPr/>
          <p:nvPr/>
        </p:nvSpPr>
        <p:spPr>
          <a:xfrm>
            <a:off x="609600" y="4354909"/>
            <a:ext cx="38100" cy="1717491"/>
          </a:xfrm>
          <a:prstGeom prst="rect">
            <a:avLst/>
          </a:prstGeom>
          <a:solidFill>
            <a:srgbClr val="0B2E4F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33" name="Text 31"/>
          <p:cNvSpPr/>
          <p:nvPr/>
        </p:nvSpPr>
        <p:spPr>
          <a:xfrm>
            <a:off x="857250" y="4507309"/>
            <a:ext cx="14500860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СЛОЙ ДАННЫХ ЦИФРОВЫХ ДВОЙНИКОВ</a:t>
            </a:r>
            <a:endParaRPr lang="en-US" sz="1650" dirty="0"/>
          </a:p>
        </p:txBody>
      </p:sp>
      <p:sp>
        <p:nvSpPr>
          <p:cNvPr id="200" name="Text Sub Layer"/>
          <p:cNvSpPr/>
          <p:nvPr/>
        </p:nvSpPr>
        <p:spPr>
          <a:xfrm>
            <a:off x="857250" y="4790000"/>
            <a:ext cx="13000000" cy="230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КХД КМГ + Nedra Data Platform (NDP) · единый кластер OpenShift / OKD</a:t>
            </a:r>
            <a:endParaRPr lang="en-US" sz="1650" dirty="0"/>
          </a:p>
        </p:txBody>
      </p:sp>
      <p:sp>
        <p:nvSpPr>
          <p:cNvPr id="34" name="Shape 32"/>
          <p:cNvSpPr/>
          <p:nvPr/>
        </p:nvSpPr>
        <p:spPr>
          <a:xfrm>
            <a:off x="857250" y="5060000"/>
            <a:ext cx="2070100" cy="86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6D3DE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5" name="Text 33"/>
          <p:cNvSpPr/>
          <p:nvPr/>
        </p:nvSpPr>
        <p:spPr>
          <a:xfrm>
            <a:off x="1003300" y="5136200"/>
            <a:ext cx="1874726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Сбор и интеграция</a:t>
            </a:r>
            <a:endParaRPr lang="en-US" sz="1575" dirty="0"/>
          </a:p>
        </p:txBody>
      </p:sp>
      <p:sp>
        <p:nvSpPr>
          <p:cNvPr id="201" name="Text Tech 201"/>
          <p:cNvSpPr/>
          <p:nvPr/>
        </p:nvSpPr>
        <p:spPr>
          <a:xfrm>
            <a:off x="1003300" y="5410000"/>
            <a:ext cx="1874726" cy="480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NiFi — ETL · Kafka + Debezium — CDC</a:t>
            </a:r>
            <a:endParaRPr lang="en-US" sz="1575" dirty="0"/>
          </a:p>
        </p:txBody>
      </p:sp>
      <p:sp>
        <p:nvSpPr>
          <p:cNvPr id="36" name="Shape 34"/>
          <p:cNvSpPr/>
          <p:nvPr/>
        </p:nvSpPr>
        <p:spPr>
          <a:xfrm>
            <a:off x="3079750" y="5060000"/>
            <a:ext cx="2070100" cy="86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6D3DE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7" name="Text 35"/>
          <p:cNvSpPr/>
          <p:nvPr/>
        </p:nvSpPr>
        <p:spPr>
          <a:xfrm>
            <a:off x="3225800" y="5136200"/>
            <a:ext cx="1874726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Хранение</a:t>
            </a:r>
            <a:endParaRPr lang="en-US" sz="1575" dirty="0"/>
          </a:p>
        </p:txBody>
      </p:sp>
      <p:sp>
        <p:nvSpPr>
          <p:cNvPr id="202" name="Text Tech 202"/>
          <p:cNvSpPr/>
          <p:nvPr/>
        </p:nvSpPr>
        <p:spPr>
          <a:xfrm>
            <a:off x="3225800" y="5410000"/>
            <a:ext cx="1874726" cy="480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 / MinIO — озеро данных · SQL-СУБД</a:t>
            </a:r>
            <a:endParaRPr lang="en-US" sz="1575" dirty="0"/>
          </a:p>
        </p:txBody>
      </p:sp>
      <p:sp>
        <p:nvSpPr>
          <p:cNvPr id="38" name="Shape 36"/>
          <p:cNvSpPr/>
          <p:nvPr/>
        </p:nvSpPr>
        <p:spPr>
          <a:xfrm>
            <a:off x="5302250" y="5060000"/>
            <a:ext cx="2070100" cy="86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6D3DE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9" name="Text 37"/>
          <p:cNvSpPr/>
          <p:nvPr/>
        </p:nvSpPr>
        <p:spPr>
          <a:xfrm>
            <a:off x="5448300" y="5136200"/>
            <a:ext cx="1874726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Каталог данных</a:t>
            </a:r>
            <a:endParaRPr lang="en-US" sz="1575" dirty="0"/>
          </a:p>
        </p:txBody>
      </p:sp>
      <p:sp>
        <p:nvSpPr>
          <p:cNvPr id="203" name="Text Tech 203"/>
          <p:cNvSpPr/>
          <p:nvPr/>
        </p:nvSpPr>
        <p:spPr>
          <a:xfrm>
            <a:off x="5448300" y="5410000"/>
            <a:ext cx="1874726" cy="480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Hive Metastore · реестр систем и адаптеров</a:t>
            </a:r>
            <a:endParaRPr lang="en-US" sz="1575" dirty="0"/>
          </a:p>
        </p:txBody>
      </p:sp>
      <p:sp>
        <p:nvSpPr>
          <p:cNvPr id="40" name="Shape 38"/>
          <p:cNvSpPr/>
          <p:nvPr/>
        </p:nvSpPr>
        <p:spPr>
          <a:xfrm>
            <a:off x="7524750" y="5060000"/>
            <a:ext cx="2070100" cy="86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6D3DE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1" name="Text 39"/>
          <p:cNvSpPr/>
          <p:nvPr/>
        </p:nvSpPr>
        <p:spPr>
          <a:xfrm>
            <a:off x="7670800" y="5136200"/>
            <a:ext cx="1874726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Верификация</a:t>
            </a:r>
            <a:endParaRPr lang="en-US" sz="1575" dirty="0"/>
          </a:p>
        </p:txBody>
      </p:sp>
      <p:sp>
        <p:nvSpPr>
          <p:cNvPr id="204" name="Text Tech 204"/>
          <p:cNvSpPr/>
          <p:nvPr/>
        </p:nvSpPr>
        <p:spPr>
          <a:xfrm>
            <a:off x="7670800" y="5410000"/>
            <a:ext cx="1874726" cy="480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AirFlow — оркестрация и контроль качества</a:t>
            </a:r>
            <a:endParaRPr lang="en-US" sz="1575" dirty="0"/>
          </a:p>
        </p:txBody>
      </p:sp>
      <p:sp>
        <p:nvSpPr>
          <p:cNvPr id="300" name="DL 300"/>
          <p:cNvSpPr/>
          <p:nvPr/>
        </p:nvSpPr>
        <p:spPr>
          <a:xfrm>
            <a:off x="9747250" y="5060000"/>
            <a:ext cx="2070100" cy="86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6D3DE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01" name="DL 301"/>
          <p:cNvSpPr/>
          <p:nvPr/>
        </p:nvSpPr>
        <p:spPr>
          <a:xfrm>
            <a:off x="9893300" y="5136200"/>
            <a:ext cx="1874726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Обработка и запросы</a:t>
            </a:r>
            <a:endParaRPr lang="en-US" sz="1575" dirty="0"/>
          </a:p>
        </p:txBody>
      </p:sp>
      <p:sp>
        <p:nvSpPr>
          <p:cNvPr id="302" name="DL 302"/>
          <p:cNvSpPr/>
          <p:nvPr/>
        </p:nvSpPr>
        <p:spPr>
          <a:xfrm>
            <a:off x="9893300" y="5410000"/>
            <a:ext cx="1874726" cy="480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Trino — SQL-движок · ElasticSearch — поиск и логи</a:t>
            </a:r>
            <a:endParaRPr lang="en-US" sz="1575" dirty="0"/>
          </a:p>
        </p:txBody>
      </p:sp>
      <p:sp>
        <p:nvSpPr>
          <p:cNvPr id="303" name="DL 303"/>
          <p:cNvSpPr/>
          <p:nvPr/>
        </p:nvSpPr>
        <p:spPr>
          <a:xfrm>
            <a:off x="11969750" y="5060000"/>
            <a:ext cx="2070100" cy="86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6D3DE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04" name="DL 304"/>
          <p:cNvSpPr/>
          <p:nvPr/>
        </p:nvSpPr>
        <p:spPr>
          <a:xfrm>
            <a:off x="12115800" y="5136200"/>
            <a:ext cx="1874726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Доступ и BI</a:t>
            </a:r>
            <a:endParaRPr lang="en-US" sz="1575" dirty="0"/>
          </a:p>
        </p:txBody>
      </p:sp>
      <p:sp>
        <p:nvSpPr>
          <p:cNvPr id="305" name="DL 305"/>
          <p:cNvSpPr/>
          <p:nvPr/>
        </p:nvSpPr>
        <p:spPr>
          <a:xfrm>
            <a:off x="12115800" y="5410000"/>
            <a:ext cx="1874726" cy="480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Superset — BI · Keycloak — SSO и доступ</a:t>
            </a:r>
            <a:endParaRPr lang="en-US" sz="1575" dirty="0"/>
          </a:p>
        </p:txBody>
      </p:sp>
      <p:sp>
        <p:nvSpPr>
          <p:cNvPr id="42" name="Shape 40"/>
          <p:cNvSpPr/>
          <p:nvPr/>
        </p:nvSpPr>
        <p:spPr>
          <a:xfrm>
            <a:off x="609600" y="6186701"/>
            <a:ext cx="7889677" cy="1392436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43" name="Text 41"/>
          <p:cNvSpPr/>
          <p:nvPr/>
        </p:nvSpPr>
        <p:spPr>
          <a:xfrm>
            <a:off x="781050" y="6320051"/>
            <a:ext cx="830145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b="1" dirty="0">
                <a:solidFill>
                  <a:srgbClr val="0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Производственные системы ЭМГ</a:t>
            </a:r>
            <a:endParaRPr lang="en-US" sz="1575" dirty="0"/>
          </a:p>
        </p:txBody>
      </p:sp>
      <p:sp>
        <p:nvSpPr>
          <p:cNvPr id="44" name="Text 42"/>
          <p:cNvSpPr/>
          <p:nvPr/>
        </p:nvSpPr>
        <p:spPr>
          <a:xfrm>
            <a:off x="781050" y="6605801"/>
            <a:ext cx="7773180" cy="8780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2500"/>
              </a:lnSpc>
              <a:buNone/>
            </a:pPr>
            <a:r>
              <a:rPr lang="en-US" sz="1575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Интеллектуальное месторождение · Система контроля за соблюдением требований ТБ и ОС · Система управления проектами КС · Система прогнозирования финансовых и производственных показателей</a:t>
            </a:r>
            <a:endParaRPr lang="en-US" sz="1575" dirty="0"/>
          </a:p>
        </p:txBody>
      </p:sp>
      <p:sp>
        <p:nvSpPr>
          <p:cNvPr id="45" name="Shape 43"/>
          <p:cNvSpPr/>
          <p:nvPr/>
        </p:nvSpPr>
        <p:spPr>
          <a:xfrm>
            <a:off x="8613577" y="6186701"/>
            <a:ext cx="5635625" cy="1392436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46" name="Text 44"/>
          <p:cNvSpPr/>
          <p:nvPr/>
        </p:nvSpPr>
        <p:spPr>
          <a:xfrm>
            <a:off x="8785027" y="6762170"/>
            <a:ext cx="1453535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MES-система</a:t>
            </a:r>
            <a:endParaRPr lang="en-US" sz="1650" dirty="0"/>
          </a:p>
        </p:txBody>
      </p:sp>
      <p:sp>
        <p:nvSpPr>
          <p:cNvPr id="47" name="Shape 45"/>
          <p:cNvSpPr/>
          <p:nvPr/>
        </p:nvSpPr>
        <p:spPr>
          <a:xfrm>
            <a:off x="609600" y="7693437"/>
            <a:ext cx="13639800" cy="1112441"/>
          </a:xfrm>
          <a:prstGeom prst="rect">
            <a:avLst/>
          </a:prstGeom>
          <a:solidFill>
            <a:srgbClr val="0B2E4F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48" name="Text 46"/>
          <p:cNvSpPr/>
          <p:nvPr/>
        </p:nvSpPr>
        <p:spPr>
          <a:xfrm>
            <a:off x="819150" y="7826787"/>
            <a:ext cx="1454277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b="1" kern="0" spc="63" dirty="0">
                <a:solidFill>
                  <a:srgbClr val="B9CB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СЛОЙ ОБЩЕКОРПОРАТИВНЫХ БАЗ ДАННЫХ — ВСЕ ДАННЫЕ КОМПАНИИ</a:t>
            </a:r>
            <a:endParaRPr lang="en-US" sz="1575" dirty="0"/>
          </a:p>
        </p:txBody>
      </p:sp>
      <p:sp>
        <p:nvSpPr>
          <p:cNvPr id="49" name="Text 47"/>
          <p:cNvSpPr/>
          <p:nvPr/>
        </p:nvSpPr>
        <p:spPr>
          <a:xfrm>
            <a:off x="819150" y="8112537"/>
            <a:ext cx="13617321" cy="5980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2500"/>
              </a:lnSpc>
              <a:buNone/>
            </a:pPr>
            <a:r>
              <a:rPr lang="en-US" sz="15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Корпоративное хранилище данных КМГ (КХД) · Общекорпоративные системы КМГ (ERP, закупки и др.) · КУУН · Системы диспетчерского управления и сбора данных технологических процессов: ИСУ, АГЗУ, ВРП, АСУ ТП</a:t>
            </a:r>
            <a:endParaRPr lang="en-US" sz="1575" dirty="0"/>
          </a:p>
        </p:txBody>
      </p:sp>
      <p:sp>
        <p:nvSpPr>
          <p:cNvPr id="50" name="Shape 48"/>
          <p:cNvSpPr/>
          <p:nvPr/>
        </p:nvSpPr>
        <p:spPr>
          <a:xfrm>
            <a:off x="14439900" y="1654175"/>
            <a:ext cx="3238500" cy="1616075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51" name="Shape 49"/>
          <p:cNvSpPr/>
          <p:nvPr/>
        </p:nvSpPr>
        <p:spPr>
          <a:xfrm>
            <a:off x="14439900" y="1654175"/>
            <a:ext cx="25400" cy="1616075"/>
          </a:xfrm>
          <a:prstGeom prst="rect">
            <a:avLst/>
          </a:prstGeom>
          <a:solidFill>
            <a:srgbClr val="1F5C96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52" name="Text 50"/>
          <p:cNvSpPr/>
          <p:nvPr/>
        </p:nvSpPr>
        <p:spPr>
          <a:xfrm>
            <a:off x="14617700" y="1787525"/>
            <a:ext cx="3005455" cy="1387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125"/>
              </a:lnSpc>
              <a:buNone/>
            </a:pPr>
            <a:r>
              <a:rPr lang="en-US" sz="1575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Слой аналитики и принятия решений — модель физического объекта и его процессов в цифровом пространстве</a:t>
            </a:r>
            <a:endParaRPr lang="en-US" sz="1575" dirty="0"/>
          </a:p>
        </p:txBody>
      </p:sp>
      <p:sp>
        <p:nvSpPr>
          <p:cNvPr id="53" name="Shape 51"/>
          <p:cNvSpPr/>
          <p:nvPr/>
        </p:nvSpPr>
        <p:spPr>
          <a:xfrm>
            <a:off x="14439900" y="3365500"/>
            <a:ext cx="3238500" cy="1076325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54" name="Shape 52"/>
          <p:cNvSpPr/>
          <p:nvPr/>
        </p:nvSpPr>
        <p:spPr>
          <a:xfrm>
            <a:off x="14439900" y="3365500"/>
            <a:ext cx="25400" cy="1076325"/>
          </a:xfrm>
          <a:prstGeom prst="rect">
            <a:avLst/>
          </a:prstGeom>
          <a:solidFill>
            <a:srgbClr val="1F5C96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55" name="Text 53"/>
          <p:cNvSpPr/>
          <p:nvPr/>
        </p:nvSpPr>
        <p:spPr>
          <a:xfrm>
            <a:off x="14617700" y="3498850"/>
            <a:ext cx="3005455" cy="847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125"/>
              </a:lnSpc>
              <a:buNone/>
            </a:pPr>
            <a:r>
              <a:rPr lang="en-US" sz="1575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ЦД актива строится на основе данных ЦД по направлениям</a:t>
            </a:r>
            <a:endParaRPr lang="en-US" sz="1575" dirty="0"/>
          </a:p>
        </p:txBody>
      </p:sp>
      <p:sp>
        <p:nvSpPr>
          <p:cNvPr id="56" name="Shape 54"/>
          <p:cNvSpPr/>
          <p:nvPr/>
        </p:nvSpPr>
        <p:spPr>
          <a:xfrm>
            <a:off x="14439900" y="4537075"/>
            <a:ext cx="3238500" cy="1076325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57" name="Shape 55"/>
          <p:cNvSpPr/>
          <p:nvPr/>
        </p:nvSpPr>
        <p:spPr>
          <a:xfrm>
            <a:off x="14439900" y="4537075"/>
            <a:ext cx="25400" cy="1076325"/>
          </a:xfrm>
          <a:prstGeom prst="rect">
            <a:avLst/>
          </a:prstGeom>
          <a:solidFill>
            <a:srgbClr val="1F5C96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58" name="Text 56"/>
          <p:cNvSpPr/>
          <p:nvPr/>
        </p:nvSpPr>
        <p:spPr>
          <a:xfrm>
            <a:off x="14617700" y="4670425"/>
            <a:ext cx="3005455" cy="847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125"/>
              </a:lnSpc>
              <a:buNone/>
            </a:pPr>
            <a:r>
              <a:rPr lang="en-US" sz="1575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ЦД по направлениям обмениваются данными через слой данных ЦД</a:t>
            </a:r>
            <a:endParaRPr lang="en-US" sz="1575" dirty="0"/>
          </a:p>
        </p:txBody>
      </p:sp>
      <p:sp>
        <p:nvSpPr>
          <p:cNvPr id="59" name="Shape 57"/>
          <p:cNvSpPr/>
          <p:nvPr/>
        </p:nvSpPr>
        <p:spPr>
          <a:xfrm>
            <a:off x="14439900" y="6327591"/>
            <a:ext cx="3238500" cy="1076325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60" name="Shape 58"/>
          <p:cNvSpPr/>
          <p:nvPr/>
        </p:nvSpPr>
        <p:spPr>
          <a:xfrm>
            <a:off x="14439900" y="6327591"/>
            <a:ext cx="25400" cy="1076325"/>
          </a:xfrm>
          <a:prstGeom prst="rect">
            <a:avLst/>
          </a:prstGeom>
          <a:solidFill>
            <a:srgbClr val="1F5C96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61" name="Text 59"/>
          <p:cNvSpPr/>
          <p:nvPr/>
        </p:nvSpPr>
        <p:spPr>
          <a:xfrm>
            <a:off x="14617700" y="6460941"/>
            <a:ext cx="3005455" cy="847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125"/>
              </a:lnSpc>
              <a:buNone/>
            </a:pPr>
            <a:r>
              <a:rPr lang="en-US" sz="1575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Слой данных ЦД получает необходимые данные из КХД и ABAI</a:t>
            </a:r>
            <a:endParaRPr lang="en-US" sz="1575" dirty="0"/>
          </a:p>
        </p:txBody>
      </p:sp>
      <p:sp>
        <p:nvSpPr>
          <p:cNvPr id="62" name="Shape 60"/>
          <p:cNvSpPr/>
          <p:nvPr/>
        </p:nvSpPr>
        <p:spPr>
          <a:xfrm>
            <a:off x="14439900" y="7499166"/>
            <a:ext cx="3238500" cy="1616075"/>
          </a:xfrm>
          <a:prstGeom prst="rect">
            <a:avLst/>
          </a:prstGeom>
          <a:solidFill>
            <a:srgbClr val="0B2E4F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63" name="Text 61"/>
          <p:cNvSpPr/>
          <p:nvPr/>
        </p:nvSpPr>
        <p:spPr>
          <a:xfrm>
            <a:off x="14592300" y="7632516"/>
            <a:ext cx="3030855" cy="1387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125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успешной реализации ЦД необходимо существенно дополнить слой аналитики и принятия решений и слой данных</a:t>
            </a:r>
            <a:endParaRPr lang="en-US" sz="1575" dirty="0"/>
          </a:p>
        </p:txBody>
      </p:sp>
      <p:sp>
        <p:nvSpPr>
          <p:cNvPr id="64" name="Shape 62"/>
          <p:cNvSpPr/>
          <p:nvPr/>
        </p:nvSpPr>
        <p:spPr>
          <a:xfrm>
            <a:off x="609600" y="9556750"/>
            <a:ext cx="17068800" cy="12700"/>
          </a:xfrm>
          <a:prstGeom prst="rect">
            <a:avLst/>
          </a:prstGeom>
          <a:solidFill>
            <a:srgbClr val="D5DEE6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65" name="Text 63"/>
          <p:cNvSpPr/>
          <p:nvPr/>
        </p:nvSpPr>
        <p:spPr>
          <a:xfrm>
            <a:off x="609600" y="9702800"/>
            <a:ext cx="4238367" cy="241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849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Источник: предложение по конфигурации ЦД</a:t>
            </a:r>
            <a:endParaRPr lang="en-US" sz="1350" dirty="0"/>
          </a:p>
        </p:txBody>
      </p:sp>
      <p:sp>
        <p:nvSpPr>
          <p:cNvPr id="66" name="Text 64"/>
          <p:cNvSpPr/>
          <p:nvPr/>
        </p:nvSpPr>
        <p:spPr>
          <a:xfrm>
            <a:off x="17468454" y="9702800"/>
            <a:ext cx="286147" cy="241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849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304800"/>
            <a:ext cx="10808634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0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Целевое наполнение контуров ЦД и ожидаемые эффекты</a:t>
            </a:r>
            <a:endParaRPr lang="en-US" sz="2850" dirty="0"/>
          </a:p>
        </p:txBody>
      </p:sp>
      <p:sp>
        <p:nvSpPr>
          <p:cNvPr id="3" name="Shape 1"/>
          <p:cNvSpPr/>
          <p:nvPr/>
        </p:nvSpPr>
        <p:spPr>
          <a:xfrm>
            <a:off x="533400" y="838200"/>
            <a:ext cx="17221200" cy="9525"/>
          </a:xfrm>
          <a:prstGeom prst="rect">
            <a:avLst/>
          </a:prstGeom>
          <a:solidFill>
            <a:srgbClr val="D5DEE6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4" name="Shape 2"/>
          <p:cNvSpPr/>
          <p:nvPr/>
        </p:nvSpPr>
        <p:spPr>
          <a:xfrm>
            <a:off x="533400" y="962025"/>
            <a:ext cx="5664200" cy="381516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5" name="Shape 3"/>
          <p:cNvSpPr/>
          <p:nvPr/>
        </p:nvSpPr>
        <p:spPr>
          <a:xfrm>
            <a:off x="533400" y="962025"/>
            <a:ext cx="5664200" cy="38100"/>
          </a:xfrm>
          <a:prstGeom prst="rect">
            <a:avLst/>
          </a:prstGeom>
          <a:solidFill>
            <a:srgbClr val="0B2E4F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6" name="Text 4"/>
          <p:cNvSpPr/>
          <p:nvPr/>
        </p:nvSpPr>
        <p:spPr>
          <a:xfrm>
            <a:off x="666750" y="1114425"/>
            <a:ext cx="593725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b="1" dirty="0">
                <a:solidFill>
                  <a:srgbClr val="0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ЦД ГЕОЛОГОРАЗВЕДКИ</a:t>
            </a:r>
            <a:endParaRPr lang="en-US" sz="1575" dirty="0"/>
          </a:p>
        </p:txBody>
      </p:sp>
      <p:sp>
        <p:nvSpPr>
          <p:cNvPr id="7" name="Text 5"/>
          <p:cNvSpPr/>
          <p:nvPr/>
        </p:nvSpPr>
        <p:spPr>
          <a:xfrm>
            <a:off x="666750" y="1400175"/>
            <a:ext cx="5937250" cy="241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dirty="0">
                <a:solidFill>
                  <a:srgbClr val="1F5C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−15% полный цикл ГРР</a:t>
            </a:r>
            <a:endParaRPr lang="en-US" sz="1425" dirty="0"/>
          </a:p>
        </p:txBody>
      </p:sp>
      <p:sp>
        <p:nvSpPr>
          <p:cNvPr id="8" name="Text 6"/>
          <p:cNvSpPr/>
          <p:nvPr/>
        </p:nvSpPr>
        <p:spPr>
          <a:xfrm>
            <a:off x="666750" y="1660525"/>
            <a:ext cx="5559425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500"/>
              </a:lnSpc>
              <a:buNone/>
            </a:pPr>
            <a:r>
              <a:rPr lang="en-US" sz="135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Цифровая геолого-гидродинамическая модель, оценка запасов и приоритизация точек бурения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66750" y="2146300"/>
            <a:ext cx="5397500" cy="12700"/>
          </a:xfrm>
          <a:prstGeom prst="rect">
            <a:avLst/>
          </a:prstGeom>
          <a:solidFill>
            <a:srgbClr val="D5DEE6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0" name="Text 8"/>
          <p:cNvSpPr/>
          <p:nvPr/>
        </p:nvSpPr>
        <p:spPr>
          <a:xfrm>
            <a:off x="666750" y="2216150"/>
            <a:ext cx="5559425" cy="695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200"/>
              </a:lnSpc>
              <a:buNone/>
            </a:pPr>
            <a:r>
              <a:rPr lang="en-US" sz="1350" b="1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Геолого-гидродинамическая модель </a:t>
            </a:r>
            <a:r>
              <a:rPr lang="en-US" sz="1350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построение и адаптация ГГДМ; модели ХВ и Кпрод по скважине · ABAI: Картопостроитель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66750" y="2931121"/>
            <a:ext cx="5397500" cy="12700"/>
          </a:xfrm>
          <a:prstGeom prst="rect">
            <a:avLst/>
          </a:prstGeom>
          <a:solidFill>
            <a:srgbClr val="D5DEE6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2" name="Text 10"/>
          <p:cNvSpPr/>
          <p:nvPr/>
        </p:nvSpPr>
        <p:spPr>
          <a:xfrm>
            <a:off x="666750" y="3000970"/>
            <a:ext cx="5559425" cy="695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200"/>
              </a:lnSpc>
              <a:buNone/>
            </a:pPr>
            <a:r>
              <a:rPr lang="en-US" sz="1350" b="1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Запасы и точки бурения </a:t>
            </a:r>
            <a:r>
              <a:rPr lang="en-US" sz="1350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оценка ОИЗ, ЦРНС; ранжирование точек бурения и выбор системы разработки · ABAI: ЦРНС, ПДИМ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66750" y="3715941"/>
            <a:ext cx="5397500" cy="12700"/>
          </a:xfrm>
          <a:prstGeom prst="rect">
            <a:avLst/>
          </a:prstGeom>
          <a:solidFill>
            <a:srgbClr val="D5DEE6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4" name="Text 12"/>
          <p:cNvSpPr/>
          <p:nvPr/>
        </p:nvSpPr>
        <p:spPr>
          <a:xfrm>
            <a:off x="666750" y="3785791"/>
            <a:ext cx="5559425" cy="9151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200"/>
              </a:lnSpc>
              <a:buNone/>
            </a:pPr>
            <a:r>
              <a:rPr lang="en-US" sz="1350" b="1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Горизонты прогноза </a:t>
            </a:r>
            <a:r>
              <a:rPr lang="en-US" sz="1350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оперативный (ГДМ низкого разрешения) · среднесрочный (ГДМ высокого разрешения, оптимизация ППД) · долгосрочный (интегрир. модель пласта и сети сбора) · ABAI: ПДИМ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311900" y="962025"/>
            <a:ext cx="5664200" cy="381516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6" name="Shape 14"/>
          <p:cNvSpPr/>
          <p:nvPr/>
        </p:nvSpPr>
        <p:spPr>
          <a:xfrm>
            <a:off x="6311900" y="962025"/>
            <a:ext cx="5664200" cy="38100"/>
          </a:xfrm>
          <a:prstGeom prst="rect">
            <a:avLst/>
          </a:prstGeom>
          <a:solidFill>
            <a:srgbClr val="0B2E4F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7" name="Text 15"/>
          <p:cNvSpPr/>
          <p:nvPr/>
        </p:nvSpPr>
        <p:spPr>
          <a:xfrm>
            <a:off x="6445250" y="1114425"/>
            <a:ext cx="593725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b="1" dirty="0">
                <a:solidFill>
                  <a:srgbClr val="0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ЦД ПЛАСТА</a:t>
            </a:r>
            <a:endParaRPr lang="en-US" sz="1575" dirty="0"/>
          </a:p>
        </p:txBody>
      </p:sp>
      <p:sp>
        <p:nvSpPr>
          <p:cNvPr id="18" name="Text 16"/>
          <p:cNvSpPr/>
          <p:nvPr/>
        </p:nvSpPr>
        <p:spPr>
          <a:xfrm>
            <a:off x="6445250" y="1400175"/>
            <a:ext cx="5937250" cy="241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dirty="0">
                <a:solidFill>
                  <a:srgbClr val="1F5C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−5% снижение CAPEX</a:t>
            </a:r>
            <a:endParaRPr lang="en-US" sz="1425" dirty="0"/>
          </a:p>
        </p:txBody>
      </p:sp>
      <p:sp>
        <p:nvSpPr>
          <p:cNvPr id="19" name="Text 17"/>
          <p:cNvSpPr/>
          <p:nvPr/>
        </p:nvSpPr>
        <p:spPr>
          <a:xfrm>
            <a:off x="6445250" y="1660525"/>
            <a:ext cx="5559425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500"/>
              </a:lnSpc>
              <a:buNone/>
            </a:pPr>
            <a:r>
              <a:rPr lang="en-US" sz="135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Многовариантный выбор системы разработки и приоритизация ГТМ по экономике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445250" y="2146300"/>
            <a:ext cx="5397500" cy="12700"/>
          </a:xfrm>
          <a:prstGeom prst="rect">
            <a:avLst/>
          </a:prstGeom>
          <a:solidFill>
            <a:srgbClr val="D5DEE6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21" name="Text 19"/>
          <p:cNvSpPr/>
          <p:nvPr/>
        </p:nvSpPr>
        <p:spPr>
          <a:xfrm>
            <a:off x="6445250" y="2216150"/>
            <a:ext cx="5559425" cy="695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200"/>
              </a:lnSpc>
              <a:buNone/>
            </a:pPr>
            <a:r>
              <a:rPr lang="en-US" sz="1350" b="1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Стратегия разработки и подбор мероприятий </a:t>
            </a:r>
            <a:r>
              <a:rPr lang="en-US" sz="1350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оптимизация ППД (вкл. нестационарное заводнение); ПВЛГ/ПНЛГ, ГТМ · ABAI: УЗ, ПАЭГТМ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445250" y="2931121"/>
            <a:ext cx="5397500" cy="12700"/>
          </a:xfrm>
          <a:prstGeom prst="rect">
            <a:avLst/>
          </a:prstGeom>
          <a:solidFill>
            <a:srgbClr val="D5DEE6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23" name="Text 21"/>
          <p:cNvSpPr/>
          <p:nvPr/>
        </p:nvSpPr>
        <p:spPr>
          <a:xfrm>
            <a:off x="6445250" y="3000970"/>
            <a:ext cx="5559425" cy="695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200"/>
              </a:lnSpc>
              <a:buNone/>
            </a:pPr>
            <a:r>
              <a:rPr lang="en-US" sz="1350" b="1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Проектирование разработки, ВНС, ТЭО КИН </a:t>
            </a:r>
            <a:r>
              <a:rPr lang="en-US" sz="1350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авто-выбор системы разработки на 2.5D/3D · оптимизация размещения фонда и заканчивания ГС/МГРП · ABAI: ЦРНС, ПДИМ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12090400" y="962025"/>
            <a:ext cx="5664200" cy="381516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25" name="Shape 23"/>
          <p:cNvSpPr/>
          <p:nvPr/>
        </p:nvSpPr>
        <p:spPr>
          <a:xfrm>
            <a:off x="12090400" y="962025"/>
            <a:ext cx="5664200" cy="38100"/>
          </a:xfrm>
          <a:prstGeom prst="rect">
            <a:avLst/>
          </a:prstGeom>
          <a:solidFill>
            <a:srgbClr val="0B2E4F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26" name="Text 24"/>
          <p:cNvSpPr/>
          <p:nvPr/>
        </p:nvSpPr>
        <p:spPr>
          <a:xfrm>
            <a:off x="12223750" y="1114425"/>
            <a:ext cx="593725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b="1" dirty="0">
                <a:solidFill>
                  <a:srgbClr val="0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ЦД СКВАЖИНЫ</a:t>
            </a:r>
            <a:endParaRPr lang="en-US" sz="1575" dirty="0"/>
          </a:p>
        </p:txBody>
      </p:sp>
      <p:sp>
        <p:nvSpPr>
          <p:cNvPr id="27" name="Text 25"/>
          <p:cNvSpPr/>
          <p:nvPr/>
        </p:nvSpPr>
        <p:spPr>
          <a:xfrm>
            <a:off x="12223750" y="1400175"/>
            <a:ext cx="5937250" cy="241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dirty="0">
                <a:solidFill>
                  <a:srgbClr val="1F5C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−3% длительность ВСР · −3% сроки вывода на режим</a:t>
            </a:r>
            <a:endParaRPr lang="en-US" sz="1425" dirty="0"/>
          </a:p>
        </p:txBody>
      </p:sp>
      <p:sp>
        <p:nvSpPr>
          <p:cNvPr id="28" name="Text 26"/>
          <p:cNvSpPr/>
          <p:nvPr/>
        </p:nvSpPr>
        <p:spPr>
          <a:xfrm>
            <a:off x="12223750" y="1660525"/>
            <a:ext cx="5937250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500"/>
              </a:lnSpc>
              <a:buNone/>
            </a:pPr>
            <a:r>
              <a:rPr lang="en-US" sz="135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Сквозное планирование ТКРС и снижение простоев бригад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12223750" y="1931988"/>
            <a:ext cx="5397500" cy="12700"/>
          </a:xfrm>
          <a:prstGeom prst="rect">
            <a:avLst/>
          </a:prstGeom>
          <a:solidFill>
            <a:srgbClr val="D5DEE6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30" name="Text 28"/>
          <p:cNvSpPr/>
          <p:nvPr/>
        </p:nvSpPr>
        <p:spPr>
          <a:xfrm>
            <a:off x="12223750" y="2001838"/>
            <a:ext cx="5559425" cy="695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200"/>
              </a:lnSpc>
              <a:buNone/>
            </a:pPr>
            <a:r>
              <a:rPr lang="en-US" sz="1350" b="1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Онлайн-мониторинг бурения и сводки </a:t>
            </a:r>
            <a:r>
              <a:rPr lang="en-US" sz="1350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мониторинг строительства скважин, база ранее проведённых работ · отслеживание совместных работ подрядчика и заказчика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12223750" y="2716808"/>
            <a:ext cx="5397500" cy="12700"/>
          </a:xfrm>
          <a:prstGeom prst="rect">
            <a:avLst/>
          </a:prstGeom>
          <a:solidFill>
            <a:srgbClr val="D5DEE6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32" name="Text 30"/>
          <p:cNvSpPr/>
          <p:nvPr/>
        </p:nvSpPr>
        <p:spPr>
          <a:xfrm>
            <a:off x="12223750" y="2786658"/>
            <a:ext cx="5559425" cy="4766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200"/>
              </a:lnSpc>
              <a:buNone/>
            </a:pPr>
            <a:r>
              <a:rPr lang="en-US" sz="1350" b="1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График мероприятий ГТМ </a:t>
            </a:r>
            <a:r>
              <a:rPr lang="en-US" sz="1350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формирование графика ГТМ · выявление пересечений движения бригад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12223750" y="3282355"/>
            <a:ext cx="5397500" cy="12700"/>
          </a:xfrm>
          <a:prstGeom prst="rect">
            <a:avLst/>
          </a:prstGeom>
          <a:solidFill>
            <a:srgbClr val="D5DEE6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34" name="Text 32"/>
          <p:cNvSpPr/>
          <p:nvPr/>
        </p:nvSpPr>
        <p:spPr>
          <a:xfrm>
            <a:off x="12223750" y="3352205"/>
            <a:ext cx="5559425" cy="4766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200"/>
              </a:lnSpc>
              <a:buNone/>
            </a:pPr>
            <a:r>
              <a:rPr lang="en-US" sz="1350" b="1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СТПА </a:t>
            </a:r>
            <a:r>
              <a:rPr lang="en-US" sz="1350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оперативный контроль ремонта · интеграция с датчиками СТПА</a:t>
            </a:r>
            <a:endParaRPr lang="en-US" sz="1350" dirty="0"/>
          </a:p>
        </p:txBody>
      </p:sp>
      <p:sp>
        <p:nvSpPr>
          <p:cNvPr id="35" name="Shape 33"/>
          <p:cNvSpPr/>
          <p:nvPr/>
        </p:nvSpPr>
        <p:spPr>
          <a:xfrm>
            <a:off x="533400" y="4891485"/>
            <a:ext cx="17221200" cy="4322366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36" name="Shape 34"/>
          <p:cNvSpPr/>
          <p:nvPr/>
        </p:nvSpPr>
        <p:spPr>
          <a:xfrm>
            <a:off x="533400" y="4891485"/>
            <a:ext cx="17221200" cy="38100"/>
          </a:xfrm>
          <a:prstGeom prst="rect">
            <a:avLst/>
          </a:prstGeom>
          <a:solidFill>
            <a:srgbClr val="0B2E4F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37" name="Text 35"/>
          <p:cNvSpPr/>
          <p:nvPr/>
        </p:nvSpPr>
        <p:spPr>
          <a:xfrm>
            <a:off x="666750" y="5043885"/>
            <a:ext cx="532082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b="1" dirty="0">
                <a:solidFill>
                  <a:srgbClr val="0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· ЦД ДОБЫЧИ И НАЗЕМНОЙ ИНФРАСТРУКТУРЫ</a:t>
            </a:r>
            <a:endParaRPr lang="en-US" sz="1575" dirty="0"/>
          </a:p>
        </p:txBody>
      </p:sp>
      <p:sp>
        <p:nvSpPr>
          <p:cNvPr id="38" name="Text 36"/>
          <p:cNvSpPr/>
          <p:nvPr/>
        </p:nvSpPr>
        <p:spPr>
          <a:xfrm>
            <a:off x="6689130" y="5069285"/>
            <a:ext cx="12025333" cy="241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F5C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−13% ТРЗ⁺ на отклонениях режима · −15% ТРЗ⁺ на расчёты и ГТМ · −5% потери добычи · −3% энергозатраты · −3% CAPEX/OPEX инфр.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666750" y="5329635"/>
            <a:ext cx="18649950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500"/>
              </a:lnSpc>
              <a:buNone/>
            </a:pPr>
            <a:r>
              <a:rPr lang="en-US" sz="135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Управление режимом фонда, минимизация потерь добычи, предиктивная надёжность и оптимизация наземной инфраструктуры</a:t>
            </a:r>
            <a:endParaRPr lang="en-US" sz="1350" dirty="0"/>
          </a:p>
        </p:txBody>
      </p:sp>
      <p:sp>
        <p:nvSpPr>
          <p:cNvPr id="40" name="Shape 38"/>
          <p:cNvSpPr/>
          <p:nvPr/>
        </p:nvSpPr>
        <p:spPr>
          <a:xfrm>
            <a:off x="666750" y="5620147"/>
            <a:ext cx="3345061" cy="961231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6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1" name="Text 39"/>
          <p:cNvSpPr/>
          <p:nvPr/>
        </p:nvSpPr>
        <p:spPr>
          <a:xfrm>
            <a:off x="774700" y="5699522"/>
            <a:ext cx="3229513" cy="8405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400"/>
              </a:lnSpc>
              <a:buNone/>
            </a:pPr>
            <a:r>
              <a:rPr lang="en-US" sz="1275" b="1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Скважины · ABAI: ТР, ПГНО </a:t>
            </a:r>
            <a:r>
              <a:rPr lang="en-US" sz="1275" dirty="0">
                <a:solidFill>
                  <a:srgbClr val="10243A"/>
                </a:solidFill>
                <a:highlight>
                  <a:srgbClr val="FFFFF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— прогноз и контроль показателей добычи · выявление отклонений режима</a:t>
            </a:r>
            <a:endParaRPr lang="en-US" sz="1275" dirty="0"/>
          </a:p>
        </p:txBody>
      </p:sp>
      <p:sp>
        <p:nvSpPr>
          <p:cNvPr id="42" name="Shape 40"/>
          <p:cNvSpPr/>
          <p:nvPr/>
        </p:nvSpPr>
        <p:spPr>
          <a:xfrm>
            <a:off x="4068961" y="5620147"/>
            <a:ext cx="3345259" cy="961231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6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3" name="Text 41"/>
          <p:cNvSpPr/>
          <p:nvPr/>
        </p:nvSpPr>
        <p:spPr>
          <a:xfrm>
            <a:off x="4176911" y="5699522"/>
            <a:ext cx="3229717" cy="8405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400"/>
              </a:lnSpc>
              <a:buNone/>
            </a:pPr>
            <a:r>
              <a:rPr lang="en-US" sz="1275" b="1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Экономика </a:t>
            </a:r>
            <a:r>
              <a:rPr lang="en-US" sz="1275" dirty="0">
                <a:solidFill>
                  <a:srgbClr val="10243A"/>
                </a:solidFill>
                <a:highlight>
                  <a:srgbClr val="FFFFF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— подбор низкорентабельных скважин под остановку (МРП, давление, добыча, ЭЭ) · онлайн-список кандидатов</a:t>
            </a:r>
            <a:endParaRPr lang="en-US" sz="1275" dirty="0"/>
          </a:p>
        </p:txBody>
      </p:sp>
      <p:sp>
        <p:nvSpPr>
          <p:cNvPr id="44" name="Shape 42"/>
          <p:cNvSpPr/>
          <p:nvPr/>
        </p:nvSpPr>
        <p:spPr>
          <a:xfrm>
            <a:off x="7471371" y="5620147"/>
            <a:ext cx="3345061" cy="961231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6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5" name="Text 43"/>
          <p:cNvSpPr/>
          <p:nvPr/>
        </p:nvSpPr>
        <p:spPr>
          <a:xfrm>
            <a:off x="7579321" y="5699522"/>
            <a:ext cx="3229513" cy="8405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400"/>
              </a:lnSpc>
              <a:buNone/>
            </a:pPr>
            <a:r>
              <a:rPr lang="en-US" sz="1275" b="1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КНС и ППД · ABAI: УЗ </a:t>
            </a:r>
            <a:r>
              <a:rPr lang="en-US" sz="1275" dirty="0">
                <a:solidFill>
                  <a:srgbClr val="10243A"/>
                </a:solidFill>
                <a:highlight>
                  <a:srgbClr val="FFFFF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— оценка износа насосов · расчёт объёмов неэффективной закачки (Профиль-Дизайны)</a:t>
            </a:r>
            <a:endParaRPr lang="en-US" sz="1275" dirty="0"/>
          </a:p>
        </p:txBody>
      </p:sp>
      <p:sp>
        <p:nvSpPr>
          <p:cNvPr id="46" name="Shape 44"/>
          <p:cNvSpPr/>
          <p:nvPr/>
        </p:nvSpPr>
        <p:spPr>
          <a:xfrm>
            <a:off x="10873582" y="5620147"/>
            <a:ext cx="3345259" cy="961231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6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7" name="Text 45"/>
          <p:cNvSpPr/>
          <p:nvPr/>
        </p:nvSpPr>
        <p:spPr>
          <a:xfrm>
            <a:off x="10981532" y="5699522"/>
            <a:ext cx="3229717" cy="8405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400"/>
              </a:lnSpc>
              <a:buNone/>
            </a:pPr>
            <a:r>
              <a:rPr lang="en-US" sz="1275" b="1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Трубопроводы </a:t>
            </a:r>
            <a:r>
              <a:rPr lang="en-US" sz="1275" dirty="0">
                <a:solidFill>
                  <a:srgbClr val="10243A"/>
                </a:solidFill>
                <a:highlight>
                  <a:srgbClr val="FFFFF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— онлайн-контроль текущих параметров · оперативное реагирование на изменение режимов работ</a:t>
            </a:r>
            <a:endParaRPr lang="en-US" sz="1275" dirty="0"/>
          </a:p>
        </p:txBody>
      </p:sp>
      <p:sp>
        <p:nvSpPr>
          <p:cNvPr id="48" name="Shape 46"/>
          <p:cNvSpPr/>
          <p:nvPr/>
        </p:nvSpPr>
        <p:spPr>
          <a:xfrm>
            <a:off x="14275991" y="5620147"/>
            <a:ext cx="3345061" cy="961231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6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9" name="Text 47"/>
          <p:cNvSpPr/>
          <p:nvPr/>
        </p:nvSpPr>
        <p:spPr>
          <a:xfrm>
            <a:off x="14383941" y="5699522"/>
            <a:ext cx="3229513" cy="8405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400"/>
              </a:lnSpc>
              <a:buNone/>
            </a:pPr>
            <a:r>
              <a:rPr lang="en-US" sz="1275" b="1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Химизация </a:t>
            </a:r>
            <a:r>
              <a:rPr lang="en-US" sz="1275" dirty="0">
                <a:solidFill>
                  <a:srgbClr val="10243A"/>
                </a:solidFill>
                <a:highlight>
                  <a:srgbClr val="FFFFF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— контроль дозировки УДР, нехватка химии в точках подачи · визуализация параметров БРХ</a:t>
            </a:r>
            <a:endParaRPr lang="en-US" sz="1275" dirty="0"/>
          </a:p>
        </p:txBody>
      </p:sp>
      <p:sp>
        <p:nvSpPr>
          <p:cNvPr id="50" name="Shape 48"/>
          <p:cNvSpPr/>
          <p:nvPr/>
        </p:nvSpPr>
        <p:spPr>
          <a:xfrm>
            <a:off x="666750" y="6638529"/>
            <a:ext cx="3345061" cy="961231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6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51" name="Text 49"/>
          <p:cNvSpPr/>
          <p:nvPr/>
        </p:nvSpPr>
        <p:spPr>
          <a:xfrm>
            <a:off x="774700" y="6717903"/>
            <a:ext cx="3229513" cy="8405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400"/>
              </a:lnSpc>
              <a:buNone/>
            </a:pPr>
            <a:r>
              <a:rPr lang="en-US" sz="1275" b="1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Подготовка </a:t>
            </a:r>
            <a:r>
              <a:rPr lang="en-US" sz="1275" dirty="0">
                <a:solidFill>
                  <a:srgbClr val="10243A"/>
                </a:solidFill>
                <a:highlight>
                  <a:srgbClr val="FFFFF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— дашборд техн. параметров, идентификация отклонений · мнемосхема объектов подготовки</a:t>
            </a:r>
            <a:endParaRPr lang="en-US" sz="1275" dirty="0"/>
          </a:p>
        </p:txBody>
      </p:sp>
      <p:sp>
        <p:nvSpPr>
          <p:cNvPr id="52" name="Shape 50"/>
          <p:cNvSpPr/>
          <p:nvPr/>
        </p:nvSpPr>
        <p:spPr>
          <a:xfrm>
            <a:off x="4068961" y="6638529"/>
            <a:ext cx="3345259" cy="961231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6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53" name="Text 51"/>
          <p:cNvSpPr/>
          <p:nvPr/>
        </p:nvSpPr>
        <p:spPr>
          <a:xfrm>
            <a:off x="4176911" y="6717903"/>
            <a:ext cx="3229717" cy="8405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400"/>
              </a:lnSpc>
              <a:buNone/>
            </a:pPr>
            <a:r>
              <a:rPr lang="en-US" sz="1275" b="1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Дашборд </a:t>
            </a:r>
            <a:r>
              <a:rPr lang="en-US" sz="1275" dirty="0">
                <a:solidFill>
                  <a:srgbClr val="10243A"/>
                </a:solidFill>
                <a:highlight>
                  <a:srgbClr val="FFFFF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— диаграммы по профилям добычи и закачки, потокам CAPEX/OPEX</a:t>
            </a:r>
            <a:endParaRPr lang="en-US" sz="1275" dirty="0"/>
          </a:p>
        </p:txBody>
      </p:sp>
      <p:sp>
        <p:nvSpPr>
          <p:cNvPr id="54" name="Shape 52"/>
          <p:cNvSpPr/>
          <p:nvPr/>
        </p:nvSpPr>
        <p:spPr>
          <a:xfrm>
            <a:off x="7471371" y="6638529"/>
            <a:ext cx="3345061" cy="961231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6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55" name="Text 53"/>
          <p:cNvSpPr/>
          <p:nvPr/>
        </p:nvSpPr>
        <p:spPr>
          <a:xfrm>
            <a:off x="7579321" y="6717903"/>
            <a:ext cx="3229513" cy="8405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400"/>
              </a:lnSpc>
              <a:buNone/>
            </a:pPr>
            <a:r>
              <a:rPr lang="en-US" sz="1275" b="1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Предиктивный анализ отказов </a:t>
            </a:r>
            <a:r>
              <a:rPr lang="en-US" sz="1275" dirty="0">
                <a:solidFill>
                  <a:srgbClr val="10243A"/>
                </a:solidFill>
                <a:highlight>
                  <a:srgbClr val="FFFFF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— поиск аварийных участков напорного трубопровода (ML) · снижение рисков отказов</a:t>
            </a:r>
            <a:endParaRPr lang="en-US" sz="1275" dirty="0"/>
          </a:p>
        </p:txBody>
      </p:sp>
      <p:sp>
        <p:nvSpPr>
          <p:cNvPr id="56" name="Shape 54"/>
          <p:cNvSpPr/>
          <p:nvPr/>
        </p:nvSpPr>
        <p:spPr>
          <a:xfrm>
            <a:off x="10873582" y="6638529"/>
            <a:ext cx="3345259" cy="961231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6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57" name="Text 55"/>
          <p:cNvSpPr/>
          <p:nvPr/>
        </p:nvSpPr>
        <p:spPr>
          <a:xfrm>
            <a:off x="10981532" y="6717903"/>
            <a:ext cx="3229717" cy="8405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400"/>
              </a:lnSpc>
              <a:buNone/>
            </a:pPr>
            <a:r>
              <a:rPr lang="en-US" sz="1275" b="1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Гидравлические расчёты </a:t>
            </a:r>
            <a:r>
              <a:rPr lang="en-US" sz="1275" dirty="0">
                <a:solidFill>
                  <a:srgbClr val="10243A"/>
                </a:solidFill>
                <a:highlight>
                  <a:srgbClr val="FFFFF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— загрузка системы сбора (вязкость, лёгкие ГТМ) · загрузка системы ППД</a:t>
            </a:r>
            <a:endParaRPr lang="en-US" sz="1275" dirty="0"/>
          </a:p>
        </p:txBody>
      </p:sp>
      <p:sp>
        <p:nvSpPr>
          <p:cNvPr id="58" name="Shape 56"/>
          <p:cNvSpPr/>
          <p:nvPr/>
        </p:nvSpPr>
        <p:spPr>
          <a:xfrm>
            <a:off x="14275991" y="6638529"/>
            <a:ext cx="3345061" cy="961231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6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59" name="Text 57"/>
          <p:cNvSpPr/>
          <p:nvPr/>
        </p:nvSpPr>
        <p:spPr>
          <a:xfrm>
            <a:off x="14383941" y="6717903"/>
            <a:ext cx="3229513" cy="8405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400"/>
              </a:lnSpc>
              <a:buNone/>
            </a:pPr>
            <a:r>
              <a:rPr lang="en-US" sz="1275" b="1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Энергетика </a:t>
            </a:r>
            <a:r>
              <a:rPr lang="en-US" sz="1275" dirty="0">
                <a:solidFill>
                  <a:srgbClr val="10243A"/>
                </a:solidFill>
                <a:highlight>
                  <a:srgbClr val="FFFFF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— расчёт потребления электроэнергии · расчёт электрических сетей</a:t>
            </a:r>
            <a:endParaRPr lang="en-US" sz="1275" dirty="0"/>
          </a:p>
        </p:txBody>
      </p:sp>
      <p:sp>
        <p:nvSpPr>
          <p:cNvPr id="60" name="Shape 58"/>
          <p:cNvSpPr/>
          <p:nvPr/>
        </p:nvSpPr>
        <p:spPr>
          <a:xfrm>
            <a:off x="533400" y="9309100"/>
            <a:ext cx="17221200" cy="406400"/>
          </a:xfrm>
          <a:prstGeom prst="rect">
            <a:avLst/>
          </a:prstGeom>
          <a:solidFill>
            <a:srgbClr val="0B2E4F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61" name="Text 59"/>
          <p:cNvSpPr/>
          <p:nvPr/>
        </p:nvSpPr>
        <p:spPr>
          <a:xfrm>
            <a:off x="723900" y="9404350"/>
            <a:ext cx="17356836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ЕДИНЫЙ СЛОЙ ДАННЫХ </a:t>
            </a:r>
            <a:r>
              <a:rPr lang="en-US" sz="1425" dirty="0">
                <a:solidFill>
                  <a:srgbClr val="FFFFFF"/>
                </a:solidFill>
                <a:highlight>
                  <a:srgbClr val="0B2E4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— сквозная аналитика, интеграции и дашборды на единой дата-платформе</a:t>
            </a:r>
            <a:endParaRPr lang="en-US" sz="1425" dirty="0"/>
          </a:p>
        </p:txBody>
      </p:sp>
      <p:sp>
        <p:nvSpPr>
          <p:cNvPr id="62" name="Shape 60"/>
          <p:cNvSpPr/>
          <p:nvPr/>
        </p:nvSpPr>
        <p:spPr>
          <a:xfrm>
            <a:off x="533400" y="9810750"/>
            <a:ext cx="17221200" cy="12700"/>
          </a:xfrm>
          <a:prstGeom prst="rect">
            <a:avLst/>
          </a:prstGeom>
          <a:solidFill>
            <a:srgbClr val="D5DEE6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63" name="Text 61"/>
          <p:cNvSpPr/>
          <p:nvPr/>
        </p:nvSpPr>
        <p:spPr>
          <a:xfrm>
            <a:off x="533400" y="9899650"/>
            <a:ext cx="13611365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849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ТРЗ⁺ — трудозатраты · ВСР — внутрискважинные работы · ГТМ — геолого-технические мероприятия · УДР/БРХ — узлы дозирования реагентов / блоки реагентного хозяйства</a:t>
            </a:r>
            <a:endParaRPr lang="en-US" sz="1125" dirty="0"/>
          </a:p>
        </p:txBody>
      </p:sp>
      <p:sp>
        <p:nvSpPr>
          <p:cNvPr id="64" name="Text 62"/>
          <p:cNvSpPr/>
          <p:nvPr/>
        </p:nvSpPr>
        <p:spPr>
          <a:xfrm>
            <a:off x="17575809" y="9899650"/>
            <a:ext cx="254992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849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1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23850"/>
            <a:ext cx="187756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0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Программное обеспечение программы Цифрового двойника</a:t>
            </a:r>
            <a:endParaRPr lang="en-US" sz="2850" dirty="0"/>
          </a:p>
        </p:txBody>
      </p:sp>
      <p:sp>
        <p:nvSpPr>
          <p:cNvPr id="3" name="Shape 1"/>
          <p:cNvSpPr/>
          <p:nvPr/>
        </p:nvSpPr>
        <p:spPr>
          <a:xfrm>
            <a:off x="609600" y="838200"/>
            <a:ext cx="17068800" cy="9525"/>
          </a:xfrm>
          <a:prstGeom prst="rect">
            <a:avLst/>
          </a:prstGeom>
          <a:solidFill>
            <a:srgbClr val="D5DEE6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4" name="Shape 2"/>
          <p:cNvSpPr/>
          <p:nvPr/>
        </p:nvSpPr>
        <p:spPr>
          <a:xfrm>
            <a:off x="609600" y="962025"/>
            <a:ext cx="5626100" cy="3730427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5" name="Shape 3"/>
          <p:cNvSpPr/>
          <p:nvPr/>
        </p:nvSpPr>
        <p:spPr>
          <a:xfrm>
            <a:off x="609600" y="962025"/>
            <a:ext cx="5626100" cy="38100"/>
          </a:xfrm>
          <a:prstGeom prst="rect">
            <a:avLst/>
          </a:prstGeom>
          <a:solidFill>
            <a:srgbClr val="0B2E4F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6" name="Text 4"/>
          <p:cNvSpPr/>
          <p:nvPr/>
        </p:nvSpPr>
        <p:spPr>
          <a:xfrm>
            <a:off x="762000" y="1114425"/>
            <a:ext cx="585343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81" dirty="0">
                <a:solidFill>
                  <a:srgbClr val="1F5C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КОНТУР 1 · ЦД ПЛАСТА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62000" y="1362075"/>
            <a:ext cx="5853430" cy="289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211"/>
              </a:lnSpc>
              <a:buNone/>
            </a:pPr>
            <a:r>
              <a:rPr lang="en-US" sz="1650" b="1" dirty="0">
                <a:solidFill>
                  <a:srgbClr val="0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Проектирование и оптимизация системы разработки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762000" y="1670645"/>
            <a:ext cx="5480939" cy="7691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941"/>
              </a:lnSpc>
              <a:buNone/>
            </a:pPr>
            <a:r>
              <a:rPr lang="en-US" sz="1500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Построение и адаптация ГГДМ, расчёт на неструктурированных 2D/3D сетках (PEBI), явный учёт трещин ГРП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62000" y="2458839"/>
            <a:ext cx="5480939" cy="525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941"/>
              </a:lnSpc>
              <a:buNone/>
            </a:pPr>
            <a:r>
              <a:rPr lang="en-US" sz="1500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Многовариантные расчёты бизнес-кейсов с экономической оценкой каждого варианта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62000" y="3003352"/>
            <a:ext cx="5853430" cy="281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941"/>
              </a:lnSpc>
              <a:buNone/>
            </a:pPr>
            <a:r>
              <a:rPr lang="en-US" sz="1500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Автовыбор системы разработки и схемы заканчивания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330950" y="962025"/>
            <a:ext cx="5626100" cy="3730427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2" name="Shape 10"/>
          <p:cNvSpPr/>
          <p:nvPr/>
        </p:nvSpPr>
        <p:spPr>
          <a:xfrm>
            <a:off x="6330950" y="962025"/>
            <a:ext cx="5626100" cy="38100"/>
          </a:xfrm>
          <a:prstGeom prst="rect">
            <a:avLst/>
          </a:prstGeom>
          <a:solidFill>
            <a:srgbClr val="0B2E4F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3" name="Text 11"/>
          <p:cNvSpPr/>
          <p:nvPr/>
        </p:nvSpPr>
        <p:spPr>
          <a:xfrm>
            <a:off x="6483350" y="1114425"/>
            <a:ext cx="585343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81" dirty="0">
                <a:solidFill>
                  <a:srgbClr val="1F5C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КОНТУР 2 · ЦД СКВАЖИНЫ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483350" y="1362075"/>
            <a:ext cx="5853430" cy="289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211"/>
              </a:lnSpc>
              <a:buNone/>
            </a:pPr>
            <a:r>
              <a:rPr lang="en-US" sz="1650" b="1" dirty="0">
                <a:solidFill>
                  <a:srgbClr val="0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Проектирование и мониторинг строительства скважин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6483350" y="1670645"/>
            <a:ext cx="5480939" cy="525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941"/>
              </a:lnSpc>
              <a:buNone/>
            </a:pPr>
            <a:r>
              <a:rPr lang="en-US" sz="1500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Проектирование типовых скважин на основе исторических данных и лучших практик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83350" y="2215158"/>
            <a:ext cx="5480939" cy="525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941"/>
              </a:lnSpc>
              <a:buNone/>
            </a:pPr>
            <a:r>
              <a:rPr lang="en-US" sz="1500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Мониторинг бурения в реальном времени, выявление отклонений и рисков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83350" y="2759671"/>
            <a:ext cx="5480939" cy="525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941"/>
              </a:lnSpc>
              <a:buNone/>
            </a:pPr>
            <a:r>
              <a:rPr lang="en-US" sz="1500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Компьютерное зрение — идентификация опасных действий и условий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12052300" y="962025"/>
            <a:ext cx="5626100" cy="3730427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9" name="Shape 17"/>
          <p:cNvSpPr/>
          <p:nvPr/>
        </p:nvSpPr>
        <p:spPr>
          <a:xfrm>
            <a:off x="12052300" y="962025"/>
            <a:ext cx="5626100" cy="38100"/>
          </a:xfrm>
          <a:prstGeom prst="rect">
            <a:avLst/>
          </a:prstGeom>
          <a:solidFill>
            <a:srgbClr val="0B2E4F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20" name="Text 18"/>
          <p:cNvSpPr/>
          <p:nvPr/>
        </p:nvSpPr>
        <p:spPr>
          <a:xfrm>
            <a:off x="12204700" y="1114425"/>
            <a:ext cx="585343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81" dirty="0">
                <a:solidFill>
                  <a:srgbClr val="1F5C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КОНТУР 2 · ЦД СКВАЖИНЫ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12204700" y="1362075"/>
            <a:ext cx="5853430" cy="289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211"/>
              </a:lnSpc>
              <a:buNone/>
            </a:pPr>
            <a:r>
              <a:rPr lang="en-US" sz="1650" b="1" dirty="0">
                <a:solidFill>
                  <a:srgbClr val="0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Управление и мониторинг внутрискважинных работ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12204700" y="1670645"/>
            <a:ext cx="5480939" cy="525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941"/>
              </a:lnSpc>
              <a:buNone/>
            </a:pPr>
            <a:r>
              <a:rPr lang="en-US" sz="1500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Внутренние модули: планирование, выполнение, завершение работ, аналитика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2204700" y="2215158"/>
            <a:ext cx="5480939" cy="525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941"/>
              </a:lnSpc>
              <a:buNone/>
            </a:pPr>
            <a:r>
              <a:rPr lang="en-US" sz="1500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Полный цикл ТКРС — от наряд-заказа до акта выполненных работ в едином источнике данных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2204700" y="2759671"/>
            <a:ext cx="5480939" cy="565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500"/>
              </a:lnSpc>
              <a:buNone/>
            </a:pPr>
            <a:r>
              <a:rPr lang="en-US" sz="1575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Удалённый сбор данных с датчиков подъёмного агрегата</a:t>
            </a:r>
            <a:endParaRPr lang="en-US" sz="1575" dirty="0"/>
          </a:p>
        </p:txBody>
      </p:sp>
      <p:sp>
        <p:nvSpPr>
          <p:cNvPr id="25" name="Shape 23"/>
          <p:cNvSpPr/>
          <p:nvPr/>
        </p:nvSpPr>
        <p:spPr>
          <a:xfrm>
            <a:off x="609600" y="4787702"/>
            <a:ext cx="5626100" cy="3730625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26" name="Shape 24"/>
          <p:cNvSpPr/>
          <p:nvPr/>
        </p:nvSpPr>
        <p:spPr>
          <a:xfrm>
            <a:off x="609600" y="4787702"/>
            <a:ext cx="5626100" cy="38100"/>
          </a:xfrm>
          <a:prstGeom prst="rect">
            <a:avLst/>
          </a:prstGeom>
          <a:solidFill>
            <a:srgbClr val="0B2E4F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27" name="Text 25"/>
          <p:cNvSpPr/>
          <p:nvPr/>
        </p:nvSpPr>
        <p:spPr>
          <a:xfrm>
            <a:off x="762000" y="4940102"/>
            <a:ext cx="585343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81" dirty="0">
                <a:solidFill>
                  <a:srgbClr val="1F5C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КОНТУР 3 · ЦД ДОБЫЧИ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762000" y="5187752"/>
            <a:ext cx="5480939" cy="5409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211"/>
              </a:lnSpc>
              <a:buNone/>
            </a:pPr>
            <a:r>
              <a:rPr lang="en-US" sz="1650" b="1" dirty="0">
                <a:solidFill>
                  <a:srgbClr val="0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Моделирование и оптимизация эксплуатации месторождения</a:t>
            </a:r>
            <a:endParaRPr lang="en-US" sz="1650" dirty="0"/>
          </a:p>
        </p:txBody>
      </p:sp>
      <p:sp>
        <p:nvSpPr>
          <p:cNvPr id="29" name="Text 27"/>
          <p:cNvSpPr/>
          <p:nvPr/>
        </p:nvSpPr>
        <p:spPr>
          <a:xfrm>
            <a:off x="762000" y="5747742"/>
            <a:ext cx="5480939" cy="525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941"/>
              </a:lnSpc>
              <a:buNone/>
            </a:pPr>
            <a:r>
              <a:rPr lang="en-US" sz="1500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Виртуальная расходометрия, прогноз добычи, выявление отклонений режима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762000" y="6292255"/>
            <a:ext cx="5480939" cy="525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941"/>
              </a:lnSpc>
              <a:buNone/>
            </a:pPr>
            <a:r>
              <a:rPr lang="en-US" sz="1500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Дашборды и мнемосхемы подготовки нефти и газа, контроль химизации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762000" y="6836768"/>
            <a:ext cx="5480939" cy="525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941"/>
              </a:lnSpc>
              <a:buNone/>
            </a:pPr>
            <a:r>
              <a:rPr lang="en-US" sz="1500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Экономика фонда — онлайн-подбор низкорентабельных скважин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6330950" y="4787702"/>
            <a:ext cx="5626100" cy="3730625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33" name="Shape 31"/>
          <p:cNvSpPr/>
          <p:nvPr/>
        </p:nvSpPr>
        <p:spPr>
          <a:xfrm>
            <a:off x="6330950" y="4787702"/>
            <a:ext cx="5626100" cy="38100"/>
          </a:xfrm>
          <a:prstGeom prst="rect">
            <a:avLst/>
          </a:prstGeom>
          <a:solidFill>
            <a:srgbClr val="0B2E4F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34" name="Text 32"/>
          <p:cNvSpPr/>
          <p:nvPr/>
        </p:nvSpPr>
        <p:spPr>
          <a:xfrm>
            <a:off x="6483350" y="4940102"/>
            <a:ext cx="585343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81" dirty="0">
                <a:solidFill>
                  <a:srgbClr val="1F5C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КОНТУР 3 · ЦД НАЗЕМНОЙ ИНФРАСТРУКТУРЫ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6483350" y="5187752"/>
            <a:ext cx="5480939" cy="5409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211"/>
              </a:lnSpc>
              <a:buNone/>
            </a:pPr>
            <a:r>
              <a:rPr lang="en-US" sz="1650" b="1" dirty="0">
                <a:solidFill>
                  <a:srgbClr val="0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Предиктивная аналитика отказов трубопроводов (ПАОТ)</a:t>
            </a:r>
            <a:endParaRPr lang="en-US" sz="1650" dirty="0"/>
          </a:p>
        </p:txBody>
      </p:sp>
      <p:sp>
        <p:nvSpPr>
          <p:cNvPr id="36" name="Text 34"/>
          <p:cNvSpPr/>
          <p:nvPr/>
        </p:nvSpPr>
        <p:spPr>
          <a:xfrm>
            <a:off x="6483350" y="5747742"/>
            <a:ext cx="5480939" cy="525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941"/>
              </a:lnSpc>
              <a:buNone/>
            </a:pPr>
            <a:r>
              <a:rPr lang="en-US" sz="1500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Прогноз технического состояния и остаточного ресурса на базе машинного обучения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6483350" y="6292255"/>
            <a:ext cx="5480939" cy="525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941"/>
              </a:lnSpc>
              <a:buNone/>
            </a:pPr>
            <a:r>
              <a:rPr lang="en-US" sz="1500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Оптимизация программы диагностики и инструментальных обследований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6483350" y="6836768"/>
            <a:ext cx="5480939" cy="525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941"/>
              </a:lnSpc>
              <a:buNone/>
            </a:pPr>
            <a:r>
              <a:rPr lang="en-US" sz="1500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Планирование программы надёжности на средне- и долгосрочный горизонт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12052300" y="4787702"/>
            <a:ext cx="5626100" cy="3730625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40" name="Shape 38"/>
          <p:cNvSpPr/>
          <p:nvPr/>
        </p:nvSpPr>
        <p:spPr>
          <a:xfrm>
            <a:off x="12052300" y="4787702"/>
            <a:ext cx="5626100" cy="38100"/>
          </a:xfrm>
          <a:prstGeom prst="rect">
            <a:avLst/>
          </a:prstGeom>
          <a:solidFill>
            <a:srgbClr val="0B2E4F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41" name="Text 39"/>
          <p:cNvSpPr/>
          <p:nvPr/>
        </p:nvSpPr>
        <p:spPr>
          <a:xfrm>
            <a:off x="12204700" y="4940102"/>
            <a:ext cx="585343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81" dirty="0">
                <a:solidFill>
                  <a:srgbClr val="1F5C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КОНТУР 3 · ЦД НАЗЕМНОЙ ИНФРАСТРУКТУРЫ</a:t>
            </a:r>
            <a:endParaRPr lang="en-US" sz="1350" dirty="0"/>
          </a:p>
        </p:txBody>
      </p:sp>
      <p:sp>
        <p:nvSpPr>
          <p:cNvPr id="42" name="Text 40"/>
          <p:cNvSpPr/>
          <p:nvPr/>
        </p:nvSpPr>
        <p:spPr>
          <a:xfrm>
            <a:off x="12204700" y="5187752"/>
            <a:ext cx="5853430" cy="289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211"/>
              </a:lnSpc>
              <a:buNone/>
            </a:pPr>
            <a:r>
              <a:rPr lang="en-US" sz="1650" b="1" dirty="0">
                <a:solidFill>
                  <a:srgbClr val="0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Концептуальное проектирование обустройства</a:t>
            </a:r>
            <a:endParaRPr lang="en-US" sz="1650" dirty="0"/>
          </a:p>
        </p:txBody>
      </p:sp>
      <p:sp>
        <p:nvSpPr>
          <p:cNvPr id="43" name="Text 41"/>
          <p:cNvSpPr/>
          <p:nvPr/>
        </p:nvSpPr>
        <p:spPr>
          <a:xfrm>
            <a:off x="12204700" y="5496322"/>
            <a:ext cx="5480939" cy="525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941"/>
              </a:lnSpc>
              <a:buNone/>
            </a:pPr>
            <a:r>
              <a:rPr lang="en-US" sz="1500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Внутренние модули: профиль добычи и график бурения, кустование, автопостроение, гидравлика, затраты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12204700" y="6040835"/>
            <a:ext cx="5480939" cy="525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941"/>
              </a:lnSpc>
              <a:buNone/>
            </a:pPr>
            <a:r>
              <a:rPr lang="en-US" sz="1500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Экономическая оценка вариантов обустройства (CAPEX / OPEX)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12204700" y="6585347"/>
            <a:ext cx="5480939" cy="525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941"/>
              </a:lnSpc>
              <a:buNone/>
            </a:pPr>
            <a:r>
              <a:rPr lang="en-US" sz="1500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Наиболее ресурсоёмкий модуль комплекса — требует отдельного согласования сайзинга</a:t>
            </a:r>
            <a:endParaRPr lang="en-US" sz="1500" dirty="0"/>
          </a:p>
        </p:txBody>
      </p:sp>
      <p:sp>
        <p:nvSpPr>
          <p:cNvPr id="46" name="Shape 44"/>
          <p:cNvSpPr/>
          <p:nvPr/>
        </p:nvSpPr>
        <p:spPr>
          <a:xfrm>
            <a:off x="609600" y="8613577"/>
            <a:ext cx="17068800" cy="1425773"/>
          </a:xfrm>
          <a:prstGeom prst="rect">
            <a:avLst/>
          </a:prstGeom>
          <a:solidFill>
            <a:srgbClr val="0B2E4F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47" name="Text 45"/>
          <p:cNvSpPr/>
          <p:nvPr/>
        </p:nvSpPr>
        <p:spPr>
          <a:xfrm>
            <a:off x="800100" y="8727877"/>
            <a:ext cx="294322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b="1" kern="0" spc="77" dirty="0">
                <a:solidFill>
                  <a:srgbClr val="B9CB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СКВОЗНОЙ СЛОЙ ДЛЯ ВСЕЙ ЦЕПОЧКИ UPSTREAM</a:t>
            </a:r>
            <a:endParaRPr lang="en-US" sz="1275" dirty="0"/>
          </a:p>
        </p:txBody>
      </p:sp>
      <p:sp>
        <p:nvSpPr>
          <p:cNvPr id="48" name="Text 46"/>
          <p:cNvSpPr/>
          <p:nvPr/>
        </p:nvSpPr>
        <p:spPr>
          <a:xfrm>
            <a:off x="800100" y="9146977"/>
            <a:ext cx="2943225" cy="7923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211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Платформа данных и интеграций цифровых двойников</a:t>
            </a:r>
            <a:endParaRPr lang="en-US" sz="1650" dirty="0"/>
          </a:p>
        </p:txBody>
      </p:sp>
      <p:sp>
        <p:nvSpPr>
          <p:cNvPr id="49" name="Text 47"/>
          <p:cNvSpPr/>
          <p:nvPr/>
        </p:nvSpPr>
        <p:spPr>
          <a:xfrm>
            <a:off x="3924300" y="8727877"/>
            <a:ext cx="6877336" cy="4941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219"/>
              </a:lnSpc>
              <a:buNone/>
            </a:pPr>
            <a:r>
              <a:rPr lang="en-US" sz="14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Централизованное хранение, интеграция и предоставление производственных данных всем прикладным модулям ЦД</a:t>
            </a:r>
            <a:endParaRPr lang="en-US" sz="1425" dirty="0"/>
          </a:p>
        </p:txBody>
      </p:sp>
      <p:sp>
        <p:nvSpPr>
          <p:cNvPr id="50" name="Text 48"/>
          <p:cNvSpPr/>
          <p:nvPr/>
        </p:nvSpPr>
        <p:spPr>
          <a:xfrm>
            <a:off x="10810875" y="8727877"/>
            <a:ext cx="6877336" cy="4941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219"/>
              </a:lnSpc>
              <a:buNone/>
            </a:pPr>
            <a:r>
              <a:rPr lang="en-US" sz="14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 — витрины данных активов (собственность КМГ) · L2 — прикладной расчётный слой · L3 — слой потребления, дашборды и KPI</a:t>
            </a:r>
            <a:endParaRPr lang="en-US" sz="1425" dirty="0"/>
          </a:p>
        </p:txBody>
      </p:sp>
      <p:sp>
        <p:nvSpPr>
          <p:cNvPr id="51" name="Text 49"/>
          <p:cNvSpPr/>
          <p:nvPr/>
        </p:nvSpPr>
        <p:spPr>
          <a:xfrm>
            <a:off x="3924300" y="9241036"/>
            <a:ext cx="6877336" cy="7221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219"/>
              </a:lnSpc>
              <a:buNone/>
            </a:pPr>
            <a:r>
              <a:rPr lang="en-US" sz="14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Интеграция с ИС ABAI, КХД и производственными системами ДЗО — REST API, Web Services, представления БД (View), файловый обмен</a:t>
            </a:r>
            <a:endParaRPr lang="en-US" sz="1425" dirty="0"/>
          </a:p>
        </p:txBody>
      </p:sp>
      <p:sp>
        <p:nvSpPr>
          <p:cNvPr id="52" name="Text 50"/>
          <p:cNvSpPr/>
          <p:nvPr/>
        </p:nvSpPr>
        <p:spPr>
          <a:xfrm>
            <a:off x="10810875" y="9241036"/>
            <a:ext cx="6877336" cy="7221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219"/>
              </a:lnSpc>
              <a:buNone/>
            </a:pPr>
            <a:r>
              <a:rPr lang="en-US" sz="14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 ряду функций возможно пересечение с ИС ABAI — разграничение согласовывается с ТОО «КМГ Инжиниринг» и фиксируется по итогам рассмотрения АТК</a:t>
            </a:r>
            <a:endParaRPr lang="en-US" sz="14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57200"/>
            <a:ext cx="18775680" cy="508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150" b="1" dirty="0">
                <a:solidFill>
                  <a:srgbClr val="0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Интеграции с ИТ-ландшафтом КМГ</a:t>
            </a:r>
            <a:endParaRPr lang="en-US" sz="3150" dirty="0"/>
          </a:p>
        </p:txBody>
      </p:sp>
      <p:sp>
        <p:nvSpPr>
          <p:cNvPr id="3" name="Text 1"/>
          <p:cNvSpPr/>
          <p:nvPr/>
        </p:nvSpPr>
        <p:spPr>
          <a:xfrm>
            <a:off x="609600" y="1022350"/>
            <a:ext cx="18775680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Схема интеграционных потоков цифровых двойников с информационными системами КМГ и ДЗО</a:t>
            </a:r>
            <a:endParaRPr lang="en-US" sz="1575" dirty="0"/>
          </a:p>
        </p:txBody>
      </p:sp>
      <p:sp>
        <p:nvSpPr>
          <p:cNvPr id="4" name="Shape 2"/>
          <p:cNvSpPr/>
          <p:nvPr/>
        </p:nvSpPr>
        <p:spPr>
          <a:xfrm>
            <a:off x="609600" y="1416050"/>
            <a:ext cx="17068800" cy="9525"/>
          </a:xfrm>
          <a:prstGeom prst="rect">
            <a:avLst/>
          </a:prstGeom>
          <a:solidFill>
            <a:srgbClr val="D5DEE6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5" name="Shape 3"/>
          <p:cNvSpPr/>
          <p:nvPr/>
        </p:nvSpPr>
        <p:spPr>
          <a:xfrm>
            <a:off x="609600" y="1635125"/>
            <a:ext cx="10792223" cy="6130925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6" name="Shape 4"/>
          <p:cNvSpPr/>
          <p:nvPr/>
        </p:nvSpPr>
        <p:spPr>
          <a:xfrm>
            <a:off x="609600" y="1635125"/>
            <a:ext cx="10792223" cy="38100"/>
          </a:xfrm>
          <a:prstGeom prst="rect">
            <a:avLst/>
          </a:prstGeom>
          <a:solidFill>
            <a:srgbClr val="0B2E4F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7" name="Text 5"/>
          <p:cNvSpPr/>
          <p:nvPr/>
        </p:nvSpPr>
        <p:spPr>
          <a:xfrm>
            <a:off x="800100" y="1844675"/>
            <a:ext cx="1145234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 ABAI · ТОО «КМГ Инжиниринг»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00100" y="2225675"/>
            <a:ext cx="5129411" cy="2607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6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9" name="Text 7"/>
          <p:cNvSpPr/>
          <p:nvPr/>
        </p:nvSpPr>
        <p:spPr>
          <a:xfrm>
            <a:off x="965200" y="2371725"/>
            <a:ext cx="5279132" cy="241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86" dirty="0">
                <a:solidFill>
                  <a:srgbClr val="1F5C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ABAI → ЦД · ВХОДЯЩИЕ ДАННЫЕ</a:t>
            </a:r>
            <a:endParaRPr lang="en-US" sz="1425" dirty="0"/>
          </a:p>
        </p:txBody>
      </p:sp>
      <p:sp>
        <p:nvSpPr>
          <p:cNvPr id="10" name="Text 8"/>
          <p:cNvSpPr/>
          <p:nvPr/>
        </p:nvSpPr>
        <p:spPr>
          <a:xfrm>
            <a:off x="965200" y="2651125"/>
            <a:ext cx="4943187" cy="565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500"/>
              </a:lnSpc>
              <a:buNone/>
            </a:pPr>
            <a:r>
              <a:rPr lang="en-US" sz="1575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Данные производственного и технологического учёта</a:t>
            </a:r>
            <a:endParaRPr lang="en-US" sz="1575" dirty="0"/>
          </a:p>
        </p:txBody>
      </p:sp>
      <p:sp>
        <p:nvSpPr>
          <p:cNvPr id="11" name="Text 9"/>
          <p:cNvSpPr/>
          <p:nvPr/>
        </p:nvSpPr>
        <p:spPr>
          <a:xfrm>
            <a:off x="965200" y="3255169"/>
            <a:ext cx="4943187" cy="565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500"/>
              </a:lnSpc>
              <a:buNone/>
            </a:pPr>
            <a:r>
              <a:rPr lang="en-US" sz="1575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Режимы работы фонда скважин, фактические показатели добычи и закачки</a:t>
            </a:r>
            <a:endParaRPr lang="en-US" sz="1575" dirty="0"/>
          </a:p>
        </p:txBody>
      </p:sp>
      <p:sp>
        <p:nvSpPr>
          <p:cNvPr id="12" name="Text 10"/>
          <p:cNvSpPr/>
          <p:nvPr/>
        </p:nvSpPr>
        <p:spPr>
          <a:xfrm>
            <a:off x="965200" y="3859213"/>
            <a:ext cx="5279132" cy="3020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500"/>
              </a:lnSpc>
              <a:buNone/>
            </a:pPr>
            <a:r>
              <a:rPr lang="en-US" sz="1575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Данные по ГТМ и ремонтам</a:t>
            </a:r>
            <a:endParaRPr lang="en-US" sz="1575" dirty="0"/>
          </a:p>
        </p:txBody>
      </p:sp>
      <p:sp>
        <p:nvSpPr>
          <p:cNvPr id="13" name="Text 11"/>
          <p:cNvSpPr/>
          <p:nvPr/>
        </p:nvSpPr>
        <p:spPr>
          <a:xfrm>
            <a:off x="965200" y="4199334"/>
            <a:ext cx="4943187" cy="525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941"/>
              </a:lnSpc>
              <a:buNone/>
            </a:pPr>
            <a:r>
              <a:rPr lang="en-US" sz="1500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Справочная информация по объектам обустройства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081911" y="2225675"/>
            <a:ext cx="5129411" cy="2607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6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5" name="Text 13"/>
          <p:cNvSpPr/>
          <p:nvPr/>
        </p:nvSpPr>
        <p:spPr>
          <a:xfrm>
            <a:off x="6247011" y="2371725"/>
            <a:ext cx="4943187" cy="444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86" dirty="0">
                <a:solidFill>
                  <a:srgbClr val="1F5C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ЦД → ABAI · РЕЗУЛЬТАТЫ РАСЧЁТОВ И МОДЕЛИРОВАНИЯ</a:t>
            </a:r>
            <a:endParaRPr lang="en-US" sz="1425" dirty="0"/>
          </a:p>
        </p:txBody>
      </p:sp>
      <p:sp>
        <p:nvSpPr>
          <p:cNvPr id="16" name="Text 14"/>
          <p:cNvSpPr/>
          <p:nvPr/>
        </p:nvSpPr>
        <p:spPr>
          <a:xfrm>
            <a:off x="6247011" y="2854325"/>
            <a:ext cx="5279132" cy="3020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500"/>
              </a:lnSpc>
              <a:buNone/>
            </a:pPr>
            <a:r>
              <a:rPr lang="en-US" sz="1575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Прогнозные профили добычи</a:t>
            </a:r>
            <a:endParaRPr lang="en-US" sz="1575" dirty="0"/>
          </a:p>
        </p:txBody>
      </p:sp>
      <p:sp>
        <p:nvSpPr>
          <p:cNvPr id="17" name="Text 15"/>
          <p:cNvSpPr/>
          <p:nvPr/>
        </p:nvSpPr>
        <p:spPr>
          <a:xfrm>
            <a:off x="6247011" y="3194447"/>
            <a:ext cx="5279132" cy="281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941"/>
              </a:lnSpc>
              <a:buNone/>
            </a:pPr>
            <a:r>
              <a:rPr lang="en-US" sz="1500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Рекомендованные режимы работы скважин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247011" y="3514328"/>
            <a:ext cx="5279132" cy="281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941"/>
              </a:lnSpc>
              <a:buNone/>
            </a:pPr>
            <a:r>
              <a:rPr lang="en-US" sz="1500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Ранжированные перечни ГТМ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247011" y="3834210"/>
            <a:ext cx="4943187" cy="525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941"/>
              </a:lnSpc>
              <a:buNone/>
            </a:pPr>
            <a:r>
              <a:rPr lang="en-US" sz="1500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Оценки состояния объектов наземной инфраструктуры и трубопроводов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00100" y="4947047"/>
            <a:ext cx="10723559" cy="563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765"/>
              </a:lnSpc>
              <a:buNone/>
            </a:pPr>
            <a:r>
              <a:rPr lang="en-US" sz="150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Способ обмена — REST API, Web Services, представления баз данных (View), файловый обмен. Конкретный перечень определяется по результатам обследования каждого актива.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00100" y="5586810"/>
            <a:ext cx="10723559" cy="563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765"/>
              </a:lnSpc>
              <a:buNone/>
            </a:pPr>
            <a:r>
              <a:rPr lang="en-US" sz="150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Единая НСИ и идентификация объектов (скважина, пласт, объект обустройства) — на основе справочников ИС «ABAI» с последующим переводом на корпоративную систему MDM/НСИ по мере её создания.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11554223" y="1635125"/>
            <a:ext cx="6124179" cy="1092994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23" name="Shape 21"/>
          <p:cNvSpPr/>
          <p:nvPr/>
        </p:nvSpPr>
        <p:spPr>
          <a:xfrm>
            <a:off x="11554223" y="1635125"/>
            <a:ext cx="25400" cy="1092994"/>
          </a:xfrm>
          <a:prstGeom prst="rect">
            <a:avLst/>
          </a:prstGeom>
          <a:solidFill>
            <a:srgbClr val="1F5C96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24" name="Text 22"/>
          <p:cNvSpPr/>
          <p:nvPr/>
        </p:nvSpPr>
        <p:spPr>
          <a:xfrm>
            <a:off x="11732022" y="1768475"/>
            <a:ext cx="6373376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KMG Data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11732022" y="2066925"/>
            <a:ext cx="5967798" cy="565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500"/>
              </a:lnSpc>
              <a:buNone/>
            </a:pPr>
            <a:r>
              <a:rPr lang="en-US" sz="1575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Приёмник цифровых показателей аналитики нарушений и производственных метрик из модулей ЦД</a:t>
            </a:r>
            <a:endParaRPr lang="en-US" sz="1575" dirty="0"/>
          </a:p>
        </p:txBody>
      </p:sp>
      <p:sp>
        <p:nvSpPr>
          <p:cNvPr id="26" name="Shape 24"/>
          <p:cNvSpPr/>
          <p:nvPr/>
        </p:nvSpPr>
        <p:spPr>
          <a:xfrm>
            <a:off x="11554223" y="2842419"/>
            <a:ext cx="6124179" cy="1095772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27" name="Shape 25"/>
          <p:cNvSpPr/>
          <p:nvPr/>
        </p:nvSpPr>
        <p:spPr>
          <a:xfrm>
            <a:off x="11554223" y="2842419"/>
            <a:ext cx="25400" cy="1095772"/>
          </a:xfrm>
          <a:prstGeom prst="rect">
            <a:avLst/>
          </a:prstGeom>
          <a:solidFill>
            <a:srgbClr val="1F5C96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28" name="Text 26"/>
          <p:cNvSpPr/>
          <p:nvPr/>
        </p:nvSpPr>
        <p:spPr>
          <a:xfrm>
            <a:off x="11732022" y="2975769"/>
            <a:ext cx="6373376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АСДЦ</a:t>
            </a:r>
            <a:endParaRPr lang="en-US" sz="1650" dirty="0"/>
          </a:p>
        </p:txBody>
      </p:sp>
      <p:sp>
        <p:nvSpPr>
          <p:cNvPr id="29" name="Text 27"/>
          <p:cNvSpPr/>
          <p:nvPr/>
        </p:nvSpPr>
        <p:spPr>
          <a:xfrm>
            <a:off x="11732022" y="3274219"/>
            <a:ext cx="6373376" cy="3020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500"/>
              </a:lnSpc>
              <a:buNone/>
            </a:pPr>
            <a:r>
              <a:rPr lang="en-US" sz="1575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Модернизация под контур ЦД в 2026 году</a:t>
            </a:r>
            <a:endParaRPr lang="en-US" sz="1575" dirty="0"/>
          </a:p>
        </p:txBody>
      </p:sp>
      <p:sp>
        <p:nvSpPr>
          <p:cNvPr id="30" name="Shape 28"/>
          <p:cNvSpPr/>
          <p:nvPr/>
        </p:nvSpPr>
        <p:spPr>
          <a:xfrm>
            <a:off x="11554223" y="4052491"/>
            <a:ext cx="6124179" cy="1092994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31" name="Shape 29"/>
          <p:cNvSpPr/>
          <p:nvPr/>
        </p:nvSpPr>
        <p:spPr>
          <a:xfrm>
            <a:off x="11554223" y="4052491"/>
            <a:ext cx="25400" cy="1092994"/>
          </a:xfrm>
          <a:prstGeom prst="rect">
            <a:avLst/>
          </a:prstGeom>
          <a:solidFill>
            <a:srgbClr val="1F5C96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32" name="Text 30"/>
          <p:cNvSpPr/>
          <p:nvPr/>
        </p:nvSpPr>
        <p:spPr>
          <a:xfrm>
            <a:off x="11732022" y="4185841"/>
            <a:ext cx="6373376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Производственные системы ДЗО и КХД</a:t>
            </a:r>
            <a:endParaRPr lang="en-US" sz="1650" dirty="0"/>
          </a:p>
        </p:txBody>
      </p:sp>
      <p:sp>
        <p:nvSpPr>
          <p:cNvPr id="33" name="Text 31"/>
          <p:cNvSpPr/>
          <p:nvPr/>
        </p:nvSpPr>
        <p:spPr>
          <a:xfrm>
            <a:off x="11732022" y="4484291"/>
            <a:ext cx="5967798" cy="565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500"/>
              </a:lnSpc>
              <a:buNone/>
            </a:pPr>
            <a:r>
              <a:rPr lang="en-US" sz="1575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SCADA / АСУ ТП, АГЗУ, ИСУ, SAP ERP, корпоративное хранилище данных КМГ</a:t>
            </a:r>
            <a:endParaRPr lang="en-US" sz="1575" dirty="0"/>
          </a:p>
        </p:txBody>
      </p:sp>
      <p:sp>
        <p:nvSpPr>
          <p:cNvPr id="34" name="Shape 32"/>
          <p:cNvSpPr/>
          <p:nvPr/>
        </p:nvSpPr>
        <p:spPr>
          <a:xfrm>
            <a:off x="11554223" y="5259785"/>
            <a:ext cx="6124179" cy="1092994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35" name="Shape 33"/>
          <p:cNvSpPr/>
          <p:nvPr/>
        </p:nvSpPr>
        <p:spPr>
          <a:xfrm>
            <a:off x="11554223" y="5259785"/>
            <a:ext cx="25400" cy="1092994"/>
          </a:xfrm>
          <a:prstGeom prst="rect">
            <a:avLst/>
          </a:prstGeom>
          <a:solidFill>
            <a:srgbClr val="1F5C96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36" name="Text 34"/>
          <p:cNvSpPr/>
          <p:nvPr/>
        </p:nvSpPr>
        <p:spPr>
          <a:xfrm>
            <a:off x="11732022" y="5393135"/>
            <a:ext cx="6373376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Ограничение на уровне ДЗО</a:t>
            </a:r>
            <a:endParaRPr lang="en-US" sz="1650" dirty="0"/>
          </a:p>
        </p:txBody>
      </p:sp>
      <p:sp>
        <p:nvSpPr>
          <p:cNvPr id="37" name="Text 35"/>
          <p:cNvSpPr/>
          <p:nvPr/>
        </p:nvSpPr>
        <p:spPr>
          <a:xfrm>
            <a:off x="11732022" y="5691585"/>
            <a:ext cx="5967798" cy="565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500"/>
              </a:lnSpc>
              <a:buNone/>
            </a:pPr>
            <a:r>
              <a:rPr lang="en-US" sz="1575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Интеграционная шина (ESB/API Gateway) и MDM/НСИ отсутствуют — первый этап по схеме «точка-точка»</a:t>
            </a:r>
            <a:endParaRPr lang="en-US" sz="1575" dirty="0"/>
          </a:p>
        </p:txBody>
      </p:sp>
      <p:sp>
        <p:nvSpPr>
          <p:cNvPr id="38" name="Shape 36"/>
          <p:cNvSpPr/>
          <p:nvPr/>
        </p:nvSpPr>
        <p:spPr>
          <a:xfrm>
            <a:off x="609600" y="7899400"/>
            <a:ext cx="17068800" cy="1562100"/>
          </a:xfrm>
          <a:prstGeom prst="rect">
            <a:avLst/>
          </a:prstGeom>
          <a:solidFill>
            <a:srgbClr val="0B2E4F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39" name="Text 37"/>
          <p:cNvSpPr/>
          <p:nvPr/>
        </p:nvSpPr>
        <p:spPr>
          <a:xfrm>
            <a:off x="819150" y="8051800"/>
            <a:ext cx="1831467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81" dirty="0">
                <a:solidFill>
                  <a:srgbClr val="B9CB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ИСХОДНЫЕ ДАННЫЕ: ИТ-ОБСЛЕДОВАНИЕ ЦЕПОЧКИ КЦ — КМГИ — ЭМГ ПО ОТЧЁТУ «ENROX OIL &amp; GAS FIELDS SERVICES - FZCO», ИЮНЬ–ИЮЛЬ 2026</a:t>
            </a:r>
            <a:endParaRPr lang="en-US" sz="1350" dirty="0"/>
          </a:p>
        </p:txBody>
      </p:sp>
      <p:sp>
        <p:nvSpPr>
          <p:cNvPr id="40" name="Shape 38"/>
          <p:cNvSpPr/>
          <p:nvPr/>
        </p:nvSpPr>
        <p:spPr>
          <a:xfrm>
            <a:off x="819150" y="8375650"/>
            <a:ext cx="12700" cy="933450"/>
          </a:xfrm>
          <a:prstGeom prst="rect">
            <a:avLst/>
          </a:prstGeom>
          <a:solidFill>
            <a:srgbClr val="FFFFFF">
              <a:alpha val="35000"/>
            </a:srgbClr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41" name="Text 39"/>
          <p:cNvSpPr/>
          <p:nvPr/>
        </p:nvSpPr>
        <p:spPr>
          <a:xfrm>
            <a:off x="1003300" y="8375650"/>
            <a:ext cx="567880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8235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80%</a:t>
            </a:r>
            <a:endParaRPr lang="en-US" sz="3000" dirty="0"/>
          </a:p>
        </p:txBody>
      </p:sp>
      <p:sp>
        <p:nvSpPr>
          <p:cNvPr id="42" name="Text 40"/>
          <p:cNvSpPr/>
          <p:nvPr/>
        </p:nvSpPr>
        <p:spPr>
          <a:xfrm>
            <a:off x="1003300" y="8813800"/>
            <a:ext cx="5317426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706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рабочего времени специалистов — ручной перенос данных в Excel</a:t>
            </a:r>
            <a:endParaRPr lang="en-US" sz="1500" dirty="0"/>
          </a:p>
        </p:txBody>
      </p:sp>
      <p:sp>
        <p:nvSpPr>
          <p:cNvPr id="43" name="Shape 41"/>
          <p:cNvSpPr/>
          <p:nvPr/>
        </p:nvSpPr>
        <p:spPr>
          <a:xfrm>
            <a:off x="6470650" y="8375650"/>
            <a:ext cx="12700" cy="933450"/>
          </a:xfrm>
          <a:prstGeom prst="rect">
            <a:avLst/>
          </a:prstGeom>
          <a:solidFill>
            <a:srgbClr val="FFFFFF">
              <a:alpha val="35000"/>
            </a:srgbClr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44" name="Text 42"/>
          <p:cNvSpPr/>
          <p:nvPr/>
        </p:nvSpPr>
        <p:spPr>
          <a:xfrm>
            <a:off x="6654800" y="8375650"/>
            <a:ext cx="567880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8235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3000" dirty="0"/>
          </a:p>
        </p:txBody>
      </p:sp>
      <p:sp>
        <p:nvSpPr>
          <p:cNvPr id="45" name="Text 43"/>
          <p:cNvSpPr/>
          <p:nvPr/>
        </p:nvSpPr>
        <p:spPr>
          <a:xfrm>
            <a:off x="6654800" y="8813800"/>
            <a:ext cx="5317426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706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интеграционных шин (ESB/API Gateway) и систем MDM/НСИ на уровне ДЗО</a:t>
            </a:r>
            <a:endParaRPr lang="en-US" sz="1500" dirty="0"/>
          </a:p>
        </p:txBody>
      </p:sp>
      <p:sp>
        <p:nvSpPr>
          <p:cNvPr id="46" name="Shape 44"/>
          <p:cNvSpPr/>
          <p:nvPr/>
        </p:nvSpPr>
        <p:spPr>
          <a:xfrm>
            <a:off x="12122151" y="8375650"/>
            <a:ext cx="12700" cy="933450"/>
          </a:xfrm>
          <a:prstGeom prst="rect">
            <a:avLst/>
          </a:prstGeom>
          <a:solidFill>
            <a:srgbClr val="FFFFFF">
              <a:alpha val="35000"/>
            </a:srgbClr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47" name="Text 45"/>
          <p:cNvSpPr/>
          <p:nvPr/>
        </p:nvSpPr>
        <p:spPr>
          <a:xfrm>
            <a:off x="12306300" y="8375650"/>
            <a:ext cx="567880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8235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</a:t>
            </a:r>
            <a:endParaRPr lang="en-US" sz="3000" dirty="0"/>
          </a:p>
        </p:txBody>
      </p:sp>
      <p:sp>
        <p:nvSpPr>
          <p:cNvPr id="48" name="Text 46"/>
          <p:cNvSpPr/>
          <p:nvPr/>
        </p:nvSpPr>
        <p:spPr>
          <a:xfrm>
            <a:off x="12306300" y="8813800"/>
            <a:ext cx="5317426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706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«серые зоны» функционального пересечения: геология — 12, разработка — 19, ВСР — 32</a:t>
            </a:r>
            <a:endParaRPr lang="en-US" sz="1500" dirty="0"/>
          </a:p>
        </p:txBody>
      </p:sp>
      <p:sp>
        <p:nvSpPr>
          <p:cNvPr id="49" name="Shape 47"/>
          <p:cNvSpPr/>
          <p:nvPr/>
        </p:nvSpPr>
        <p:spPr>
          <a:xfrm>
            <a:off x="609600" y="9594850"/>
            <a:ext cx="17068800" cy="12700"/>
          </a:xfrm>
          <a:prstGeom prst="rect">
            <a:avLst/>
          </a:prstGeom>
          <a:solidFill>
            <a:srgbClr val="D5DEE6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50" name="Text 48"/>
          <p:cNvSpPr/>
          <p:nvPr/>
        </p:nvSpPr>
        <p:spPr>
          <a:xfrm>
            <a:off x="17464088" y="9721850"/>
            <a:ext cx="290513" cy="241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849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57200"/>
            <a:ext cx="18775680" cy="508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150" b="1" dirty="0">
                <a:solidFill>
                  <a:srgbClr val="0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Дорожная карта, этапы внедрения и статус</a:t>
            </a:r>
            <a:endParaRPr lang="en-US" sz="3150" dirty="0"/>
          </a:p>
        </p:txBody>
      </p:sp>
      <p:sp>
        <p:nvSpPr>
          <p:cNvPr id="3" name="Shape 1"/>
          <p:cNvSpPr/>
          <p:nvPr/>
        </p:nvSpPr>
        <p:spPr>
          <a:xfrm>
            <a:off x="609600" y="1079500"/>
            <a:ext cx="17068800" cy="9525"/>
          </a:xfrm>
          <a:prstGeom prst="rect">
            <a:avLst/>
          </a:prstGeom>
          <a:solidFill>
            <a:srgbClr val="D5DEE6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4" name="Shape 2"/>
          <p:cNvSpPr/>
          <p:nvPr/>
        </p:nvSpPr>
        <p:spPr>
          <a:xfrm>
            <a:off x="609600" y="1317625"/>
            <a:ext cx="3306961" cy="2301875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5" name="Shape 3"/>
          <p:cNvSpPr/>
          <p:nvPr/>
        </p:nvSpPr>
        <p:spPr>
          <a:xfrm>
            <a:off x="609600" y="1317625"/>
            <a:ext cx="3306961" cy="38100"/>
          </a:xfrm>
          <a:prstGeom prst="rect">
            <a:avLst/>
          </a:prstGeom>
          <a:solidFill>
            <a:srgbClr val="0B2E4F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6" name="Text 4"/>
          <p:cNvSpPr/>
          <p:nvPr/>
        </p:nvSpPr>
        <p:spPr>
          <a:xfrm>
            <a:off x="781050" y="1508125"/>
            <a:ext cx="3260467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kern="0" spc="90" dirty="0">
                <a:solidFill>
                  <a:srgbClr val="1F5C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ИЮЛЬ 2026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81050" y="1800225"/>
            <a:ext cx="3260467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Выполнено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781050" y="2117725"/>
            <a:ext cx="3052983" cy="1387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125"/>
              </a:lnSpc>
              <a:buNone/>
            </a:pPr>
            <a:r>
              <a:rPr lang="en-US" sz="1575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Развёрнут пилотный контур на 4 виртуальных машинах. Введены два расчётных десктопных модуля и один веб-модуль.</a:t>
            </a:r>
            <a:endParaRPr lang="en-US" sz="1575" dirty="0"/>
          </a:p>
        </p:txBody>
      </p:sp>
      <p:sp>
        <p:nvSpPr>
          <p:cNvPr id="9" name="Shape 7"/>
          <p:cNvSpPr/>
          <p:nvPr/>
        </p:nvSpPr>
        <p:spPr>
          <a:xfrm>
            <a:off x="4049911" y="1317625"/>
            <a:ext cx="3307159" cy="2301875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0" name="Shape 8"/>
          <p:cNvSpPr/>
          <p:nvPr/>
        </p:nvSpPr>
        <p:spPr>
          <a:xfrm>
            <a:off x="4049911" y="1317625"/>
            <a:ext cx="3307159" cy="38100"/>
          </a:xfrm>
          <a:prstGeom prst="rect">
            <a:avLst/>
          </a:prstGeom>
          <a:solidFill>
            <a:srgbClr val="0B2E4F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1" name="Text 9"/>
          <p:cNvSpPr/>
          <p:nvPr/>
        </p:nvSpPr>
        <p:spPr>
          <a:xfrm>
            <a:off x="4221361" y="1508125"/>
            <a:ext cx="3260685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kern="0" spc="90" dirty="0">
                <a:solidFill>
                  <a:srgbClr val="1F5C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АВГУСТ 2026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221361" y="1800225"/>
            <a:ext cx="3260685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работе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4221361" y="2117725"/>
            <a:ext cx="3053187" cy="1387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125"/>
              </a:lnSpc>
              <a:buNone/>
            </a:pPr>
            <a:r>
              <a:rPr lang="en-US" sz="1575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Онбординг пользователей ЭМГ по четырём управлениям. Подготовка демонстрации решения — до 31.08.2026.</a:t>
            </a:r>
            <a:endParaRPr lang="en-US" sz="1575" dirty="0"/>
          </a:p>
        </p:txBody>
      </p:sp>
      <p:sp>
        <p:nvSpPr>
          <p:cNvPr id="14" name="Shape 12"/>
          <p:cNvSpPr/>
          <p:nvPr/>
        </p:nvSpPr>
        <p:spPr>
          <a:xfrm>
            <a:off x="7490421" y="1317625"/>
            <a:ext cx="3306961" cy="2301875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5" name="Shape 13"/>
          <p:cNvSpPr/>
          <p:nvPr/>
        </p:nvSpPr>
        <p:spPr>
          <a:xfrm>
            <a:off x="7490421" y="1317625"/>
            <a:ext cx="3306961" cy="38100"/>
          </a:xfrm>
          <a:prstGeom prst="rect">
            <a:avLst/>
          </a:prstGeom>
          <a:solidFill>
            <a:srgbClr val="8496A6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6" name="Text 14"/>
          <p:cNvSpPr/>
          <p:nvPr/>
        </p:nvSpPr>
        <p:spPr>
          <a:xfrm>
            <a:off x="7661871" y="1508125"/>
            <a:ext cx="3260467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kern="0" spc="90" dirty="0">
                <a:solidFill>
                  <a:srgbClr val="1F5C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III КВАРТАЛ 2026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661871" y="1800225"/>
            <a:ext cx="3260467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Планируется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7661871" y="2117725"/>
            <a:ext cx="3052983" cy="577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125"/>
              </a:lnSpc>
              <a:buNone/>
            </a:pPr>
            <a:r>
              <a:rPr lang="en-US" sz="1575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Утверждение потребности в финансировании.</a:t>
            </a:r>
            <a:endParaRPr lang="en-US" sz="1575" dirty="0"/>
          </a:p>
        </p:txBody>
      </p:sp>
      <p:sp>
        <p:nvSpPr>
          <p:cNvPr id="19" name="Shape 17"/>
          <p:cNvSpPr/>
          <p:nvPr/>
        </p:nvSpPr>
        <p:spPr>
          <a:xfrm>
            <a:off x="10930732" y="1317625"/>
            <a:ext cx="3307159" cy="2301875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20" name="Shape 18"/>
          <p:cNvSpPr/>
          <p:nvPr/>
        </p:nvSpPr>
        <p:spPr>
          <a:xfrm>
            <a:off x="10930732" y="1317625"/>
            <a:ext cx="3307159" cy="38100"/>
          </a:xfrm>
          <a:prstGeom prst="rect">
            <a:avLst/>
          </a:prstGeom>
          <a:solidFill>
            <a:srgbClr val="8496A6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21" name="Text 19"/>
          <p:cNvSpPr/>
          <p:nvPr/>
        </p:nvSpPr>
        <p:spPr>
          <a:xfrm>
            <a:off x="11102182" y="1508125"/>
            <a:ext cx="3260685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kern="0" spc="90" dirty="0">
                <a:solidFill>
                  <a:srgbClr val="1F5C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ОКТЯБРЬ 2026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1102182" y="1800225"/>
            <a:ext cx="3260685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Целевая дата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11102182" y="2117725"/>
            <a:ext cx="3053187" cy="1117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125"/>
              </a:lnSpc>
              <a:buNone/>
            </a:pPr>
            <a:r>
              <a:rPr lang="en-US" sz="1575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Запуск пилота Цифрового двойника на Восточном Молдабеке в промышленную эксплуатацию.</a:t>
            </a:r>
            <a:endParaRPr lang="en-US" sz="1575" dirty="0"/>
          </a:p>
        </p:txBody>
      </p:sp>
      <p:sp>
        <p:nvSpPr>
          <p:cNvPr id="24" name="Shape 22"/>
          <p:cNvSpPr/>
          <p:nvPr/>
        </p:nvSpPr>
        <p:spPr>
          <a:xfrm>
            <a:off x="14371241" y="1317625"/>
            <a:ext cx="3306961" cy="2301875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25" name="Shape 23"/>
          <p:cNvSpPr/>
          <p:nvPr/>
        </p:nvSpPr>
        <p:spPr>
          <a:xfrm>
            <a:off x="14371241" y="1317625"/>
            <a:ext cx="3306961" cy="38100"/>
          </a:xfrm>
          <a:prstGeom prst="rect">
            <a:avLst/>
          </a:prstGeom>
          <a:solidFill>
            <a:srgbClr val="8496A6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26" name="Text 24"/>
          <p:cNvSpPr/>
          <p:nvPr/>
        </p:nvSpPr>
        <p:spPr>
          <a:xfrm>
            <a:off x="14542691" y="1508125"/>
            <a:ext cx="3260467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kern="0" spc="90" dirty="0">
                <a:solidFill>
                  <a:srgbClr val="1F5C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2027–2028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4542691" y="1800225"/>
            <a:ext cx="3260467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Тиражирование</a:t>
            </a:r>
            <a:endParaRPr lang="en-US" sz="1650" dirty="0"/>
          </a:p>
        </p:txBody>
      </p:sp>
      <p:sp>
        <p:nvSpPr>
          <p:cNvPr id="28" name="Text 26"/>
          <p:cNvSpPr/>
          <p:nvPr/>
        </p:nvSpPr>
        <p:spPr>
          <a:xfrm>
            <a:off x="14542691" y="2117725"/>
            <a:ext cx="3052983" cy="577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125"/>
              </a:lnSpc>
              <a:buNone/>
            </a:pPr>
            <a:r>
              <a:rPr lang="en-US" sz="1575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Развёртывание на 12 приоритетных активах 7 ДЗО.</a:t>
            </a:r>
            <a:endParaRPr lang="en-US" sz="1575" dirty="0"/>
          </a:p>
        </p:txBody>
      </p:sp>
      <p:sp>
        <p:nvSpPr>
          <p:cNvPr id="29" name="Text 27"/>
          <p:cNvSpPr/>
          <p:nvPr/>
        </p:nvSpPr>
        <p:spPr>
          <a:xfrm>
            <a:off x="609600" y="3810000"/>
            <a:ext cx="10689669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kern="0" spc="12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ЭТАПЫ ВНЕДРЕНИЯ НА АКТИВЕ (ТИПОВОЙ ЦИКЛ)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609600" y="4121150"/>
            <a:ext cx="192881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F5C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50" dirty="0"/>
          </a:p>
        </p:txBody>
      </p:sp>
      <p:sp>
        <p:nvSpPr>
          <p:cNvPr id="31" name="Text 29"/>
          <p:cNvSpPr/>
          <p:nvPr/>
        </p:nvSpPr>
        <p:spPr>
          <a:xfrm>
            <a:off x="840581" y="4121150"/>
            <a:ext cx="4727555" cy="5580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750"/>
              </a:lnSpc>
              <a:buNone/>
            </a:pPr>
            <a:r>
              <a:rPr lang="en-US" sz="1575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Обследование актива, сбор и оценка качества данных</a:t>
            </a:r>
            <a:endParaRPr lang="en-US" sz="1575" dirty="0"/>
          </a:p>
        </p:txBody>
      </p:sp>
      <p:sp>
        <p:nvSpPr>
          <p:cNvPr id="32" name="Text 30"/>
          <p:cNvSpPr/>
          <p:nvPr/>
        </p:nvSpPr>
        <p:spPr>
          <a:xfrm>
            <a:off x="5506641" y="4121150"/>
            <a:ext cx="192881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F5C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50" dirty="0"/>
          </a:p>
        </p:txBody>
      </p:sp>
      <p:sp>
        <p:nvSpPr>
          <p:cNvPr id="33" name="Text 31"/>
          <p:cNvSpPr/>
          <p:nvPr/>
        </p:nvSpPr>
        <p:spPr>
          <a:xfrm>
            <a:off x="5737622" y="4121150"/>
            <a:ext cx="4727555" cy="5580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750"/>
              </a:lnSpc>
              <a:buNone/>
            </a:pPr>
            <a:r>
              <a:rPr lang="en-US" sz="1575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Развёртывание инфраструктуры: ВМ, СХД, сетевые доступы</a:t>
            </a:r>
            <a:endParaRPr lang="en-US" sz="1575" dirty="0"/>
          </a:p>
        </p:txBody>
      </p:sp>
      <p:sp>
        <p:nvSpPr>
          <p:cNvPr id="34" name="Text 32"/>
          <p:cNvSpPr/>
          <p:nvPr/>
        </p:nvSpPr>
        <p:spPr>
          <a:xfrm>
            <a:off x="609600" y="4717256"/>
            <a:ext cx="192881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F5C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50" dirty="0"/>
          </a:p>
        </p:txBody>
      </p:sp>
      <p:sp>
        <p:nvSpPr>
          <p:cNvPr id="35" name="Text 33"/>
          <p:cNvSpPr/>
          <p:nvPr/>
        </p:nvSpPr>
        <p:spPr>
          <a:xfrm>
            <a:off x="840581" y="4717256"/>
            <a:ext cx="4727555" cy="5580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750"/>
              </a:lnSpc>
              <a:buNone/>
            </a:pPr>
            <a:r>
              <a:rPr lang="en-US" sz="1575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Установка и настройка прикладного ПО, публикация сервисов</a:t>
            </a:r>
            <a:endParaRPr lang="en-US" sz="1575" dirty="0"/>
          </a:p>
        </p:txBody>
      </p:sp>
      <p:sp>
        <p:nvSpPr>
          <p:cNvPr id="36" name="Text 34"/>
          <p:cNvSpPr/>
          <p:nvPr/>
        </p:nvSpPr>
        <p:spPr>
          <a:xfrm>
            <a:off x="5506641" y="4717256"/>
            <a:ext cx="192881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F5C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50" dirty="0"/>
          </a:p>
        </p:txBody>
      </p:sp>
      <p:sp>
        <p:nvSpPr>
          <p:cNvPr id="37" name="Text 35"/>
          <p:cNvSpPr/>
          <p:nvPr/>
        </p:nvSpPr>
        <p:spPr>
          <a:xfrm>
            <a:off x="5737622" y="4717256"/>
            <a:ext cx="4727555" cy="5580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750"/>
              </a:lnSpc>
              <a:buNone/>
            </a:pPr>
            <a:r>
              <a:rPr lang="en-US" sz="1575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Интеграция с ИС ABAI и производственными системами ДЗО</a:t>
            </a:r>
            <a:endParaRPr lang="en-US" sz="1575" dirty="0"/>
          </a:p>
        </p:txBody>
      </p:sp>
      <p:sp>
        <p:nvSpPr>
          <p:cNvPr id="38" name="Text 36"/>
          <p:cNvSpPr/>
          <p:nvPr/>
        </p:nvSpPr>
        <p:spPr>
          <a:xfrm>
            <a:off x="609600" y="5313363"/>
            <a:ext cx="192881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F5C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50" dirty="0"/>
          </a:p>
        </p:txBody>
      </p:sp>
      <p:sp>
        <p:nvSpPr>
          <p:cNvPr id="39" name="Text 37"/>
          <p:cNvSpPr/>
          <p:nvPr/>
        </p:nvSpPr>
        <p:spPr>
          <a:xfrm>
            <a:off x="840581" y="5313363"/>
            <a:ext cx="4727555" cy="5580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750"/>
              </a:lnSpc>
              <a:buNone/>
            </a:pPr>
            <a:r>
              <a:rPr lang="en-US" sz="1575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Загрузка данных, построение и адаптация моделей</a:t>
            </a:r>
            <a:endParaRPr lang="en-US" sz="1575" dirty="0"/>
          </a:p>
        </p:txBody>
      </p:sp>
      <p:sp>
        <p:nvSpPr>
          <p:cNvPr id="40" name="Text 38"/>
          <p:cNvSpPr/>
          <p:nvPr/>
        </p:nvSpPr>
        <p:spPr>
          <a:xfrm>
            <a:off x="5506641" y="5313363"/>
            <a:ext cx="192881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F5C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50" dirty="0"/>
          </a:p>
        </p:txBody>
      </p:sp>
      <p:sp>
        <p:nvSpPr>
          <p:cNvPr id="41" name="Text 39"/>
          <p:cNvSpPr/>
          <p:nvPr/>
        </p:nvSpPr>
        <p:spPr>
          <a:xfrm>
            <a:off x="5737622" y="5313363"/>
            <a:ext cx="4727555" cy="5580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750"/>
              </a:lnSpc>
              <a:buNone/>
            </a:pPr>
            <a:r>
              <a:rPr lang="en-US" sz="1575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Обучение пользователей и опытная эксплуатация</a:t>
            </a:r>
            <a:endParaRPr lang="en-US" sz="1575" dirty="0"/>
          </a:p>
        </p:txBody>
      </p:sp>
      <p:sp>
        <p:nvSpPr>
          <p:cNvPr id="42" name="Text 40"/>
          <p:cNvSpPr/>
          <p:nvPr/>
        </p:nvSpPr>
        <p:spPr>
          <a:xfrm>
            <a:off x="609600" y="5909469"/>
            <a:ext cx="192881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F5C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650" dirty="0"/>
          </a:p>
        </p:txBody>
      </p:sp>
      <p:sp>
        <p:nvSpPr>
          <p:cNvPr id="43" name="Text 41"/>
          <p:cNvSpPr/>
          <p:nvPr/>
        </p:nvSpPr>
        <p:spPr>
          <a:xfrm>
            <a:off x="840581" y="5909469"/>
            <a:ext cx="4727555" cy="5580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750"/>
              </a:lnSpc>
              <a:buNone/>
            </a:pPr>
            <a:r>
              <a:rPr lang="en-US" sz="1575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Ввод в промышленную эксплуатацию, передача на сопровождение</a:t>
            </a:r>
            <a:endParaRPr lang="en-US" sz="1575" dirty="0"/>
          </a:p>
        </p:txBody>
      </p:sp>
      <p:sp>
        <p:nvSpPr>
          <p:cNvPr id="44" name="Text 42"/>
          <p:cNvSpPr/>
          <p:nvPr/>
        </p:nvSpPr>
        <p:spPr>
          <a:xfrm>
            <a:off x="10479881" y="3810000"/>
            <a:ext cx="7918371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kern="0" spc="12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ЭТАПЫ ПОДГОТОВКИ ПРОГРАММЫ</a:t>
            </a:r>
            <a:endParaRPr lang="en-US" sz="1500" dirty="0"/>
          </a:p>
        </p:txBody>
      </p:sp>
      <p:sp>
        <p:nvSpPr>
          <p:cNvPr id="45" name="Shape 43"/>
          <p:cNvSpPr/>
          <p:nvPr/>
        </p:nvSpPr>
        <p:spPr>
          <a:xfrm>
            <a:off x="10479881" y="4121150"/>
            <a:ext cx="7198519" cy="450453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46" name="Text 44"/>
          <p:cNvSpPr/>
          <p:nvPr/>
        </p:nvSpPr>
        <p:spPr>
          <a:xfrm>
            <a:off x="10632281" y="4216400"/>
            <a:ext cx="932656" cy="29805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b="1" dirty="0">
                <a:solidFill>
                  <a:srgbClr val="0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ЭТАП ТС</a:t>
            </a:r>
            <a:endParaRPr lang="en-US" sz="1575" dirty="0"/>
          </a:p>
        </p:txBody>
      </p:sp>
      <p:sp>
        <p:nvSpPr>
          <p:cNvPr id="47" name="Text 45"/>
          <p:cNvSpPr/>
          <p:nvPr/>
        </p:nvSpPr>
        <p:spPr>
          <a:xfrm>
            <a:off x="11641138" y="4216400"/>
            <a:ext cx="5705654" cy="2980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750"/>
              </a:lnSpc>
              <a:buNone/>
            </a:pPr>
            <a:r>
              <a:rPr lang="en-US" sz="1575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Техническая спецификация и обследование активов</a:t>
            </a:r>
            <a:endParaRPr lang="en-US" sz="1575" dirty="0"/>
          </a:p>
        </p:txBody>
      </p:sp>
      <p:sp>
        <p:nvSpPr>
          <p:cNvPr id="48" name="Shape 46"/>
          <p:cNvSpPr/>
          <p:nvPr/>
        </p:nvSpPr>
        <p:spPr>
          <a:xfrm>
            <a:off x="10479881" y="4647803"/>
            <a:ext cx="7198519" cy="710406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49" name="Text 47"/>
          <p:cNvSpPr/>
          <p:nvPr/>
        </p:nvSpPr>
        <p:spPr>
          <a:xfrm>
            <a:off x="10632281" y="4743053"/>
            <a:ext cx="1128514" cy="558006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b="1" dirty="0">
                <a:solidFill>
                  <a:srgbClr val="0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ЭТАП ФЭМ</a:t>
            </a:r>
            <a:endParaRPr lang="en-US" sz="1575" dirty="0"/>
          </a:p>
        </p:txBody>
      </p:sp>
      <p:sp>
        <p:nvSpPr>
          <p:cNvPr id="50" name="Text 48"/>
          <p:cNvSpPr/>
          <p:nvPr/>
        </p:nvSpPr>
        <p:spPr>
          <a:xfrm>
            <a:off x="11836996" y="4743053"/>
            <a:ext cx="5859675" cy="5580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750"/>
              </a:lnSpc>
              <a:buNone/>
            </a:pPr>
            <a:r>
              <a:rPr lang="en-US" sz="1575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Финансово-экономическая модель — сформирована, направлена в ДЦР КМГ</a:t>
            </a:r>
            <a:endParaRPr lang="en-US" sz="1575" dirty="0"/>
          </a:p>
        </p:txBody>
      </p:sp>
      <p:sp>
        <p:nvSpPr>
          <p:cNvPr id="51" name="Shape 49"/>
          <p:cNvSpPr/>
          <p:nvPr/>
        </p:nvSpPr>
        <p:spPr>
          <a:xfrm>
            <a:off x="10479881" y="5434410"/>
            <a:ext cx="7198519" cy="710406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52" name="Text 50"/>
          <p:cNvSpPr/>
          <p:nvPr/>
        </p:nvSpPr>
        <p:spPr>
          <a:xfrm>
            <a:off x="10632281" y="5529660"/>
            <a:ext cx="2689781" cy="558006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b="1" dirty="0">
                <a:solidFill>
                  <a:srgbClr val="0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ЭТАП БЮДЖЕТИРОВАНИЯ</a:t>
            </a:r>
            <a:endParaRPr lang="en-US" sz="1575" dirty="0"/>
          </a:p>
        </p:txBody>
      </p:sp>
      <p:sp>
        <p:nvSpPr>
          <p:cNvPr id="53" name="Text 51"/>
          <p:cNvSpPr/>
          <p:nvPr/>
        </p:nvSpPr>
        <p:spPr>
          <a:xfrm>
            <a:off x="13396120" y="5529660"/>
            <a:ext cx="4253778" cy="5580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750"/>
              </a:lnSpc>
              <a:buNone/>
            </a:pPr>
            <a:r>
              <a:rPr lang="en-US" sz="1575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Включение потребности в бюджет и корректировка бизнес-плана</a:t>
            </a:r>
            <a:endParaRPr lang="en-US" sz="1575" dirty="0"/>
          </a:p>
        </p:txBody>
      </p:sp>
      <p:sp>
        <p:nvSpPr>
          <p:cNvPr id="54" name="Shape 52"/>
          <p:cNvSpPr/>
          <p:nvPr/>
        </p:nvSpPr>
        <p:spPr>
          <a:xfrm>
            <a:off x="10479881" y="6221016"/>
            <a:ext cx="7198519" cy="710406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55" name="Text 53"/>
          <p:cNvSpPr/>
          <p:nvPr/>
        </p:nvSpPr>
        <p:spPr>
          <a:xfrm>
            <a:off x="10632281" y="6316266"/>
            <a:ext cx="1582142" cy="558006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b="1" dirty="0">
                <a:solidFill>
                  <a:srgbClr val="0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ЭТАП ЗАКУПОК</a:t>
            </a:r>
            <a:endParaRPr lang="en-US" sz="1575" dirty="0"/>
          </a:p>
        </p:txBody>
      </p:sp>
      <p:sp>
        <p:nvSpPr>
          <p:cNvPr id="56" name="Text 54"/>
          <p:cNvSpPr/>
          <p:nvPr/>
        </p:nvSpPr>
        <p:spPr>
          <a:xfrm>
            <a:off x="12290624" y="6316266"/>
            <a:ext cx="5392438" cy="5580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750"/>
              </a:lnSpc>
              <a:buNone/>
            </a:pPr>
            <a:r>
              <a:rPr lang="en-US" sz="1575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Закупочные процедуры, договоры на внедрение и сопровождение</a:t>
            </a:r>
            <a:endParaRPr lang="en-US" sz="1575" dirty="0"/>
          </a:p>
        </p:txBody>
      </p:sp>
      <p:sp>
        <p:nvSpPr>
          <p:cNvPr id="57" name="Shape 55"/>
          <p:cNvSpPr/>
          <p:nvPr/>
        </p:nvSpPr>
        <p:spPr>
          <a:xfrm>
            <a:off x="609600" y="9594850"/>
            <a:ext cx="17068800" cy="12700"/>
          </a:xfrm>
          <a:prstGeom prst="rect">
            <a:avLst/>
          </a:prstGeom>
          <a:solidFill>
            <a:srgbClr val="D5DEE6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58" name="Text 56"/>
          <p:cNvSpPr/>
          <p:nvPr/>
        </p:nvSpPr>
        <p:spPr>
          <a:xfrm>
            <a:off x="17463890" y="9721850"/>
            <a:ext cx="290711" cy="241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849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57200"/>
            <a:ext cx="18775680" cy="508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150" b="1" dirty="0">
                <a:solidFill>
                  <a:srgbClr val="0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Ключевые риски и связанные с ними ограничения</a:t>
            </a:r>
            <a:endParaRPr lang="en-US" sz="3150" dirty="0"/>
          </a:p>
        </p:txBody>
      </p:sp>
      <p:sp>
        <p:nvSpPr>
          <p:cNvPr id="3" name="Shape 1"/>
          <p:cNvSpPr/>
          <p:nvPr/>
        </p:nvSpPr>
        <p:spPr>
          <a:xfrm>
            <a:off x="609600" y="1079500"/>
            <a:ext cx="17068800" cy="9525"/>
          </a:xfrm>
          <a:prstGeom prst="rect">
            <a:avLst/>
          </a:prstGeom>
          <a:solidFill>
            <a:srgbClr val="D5DEE6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4" name="Shape 2"/>
          <p:cNvSpPr/>
          <p:nvPr/>
        </p:nvSpPr>
        <p:spPr>
          <a:xfrm>
            <a:off x="609600" y="1298575"/>
            <a:ext cx="17068800" cy="592534"/>
          </a:xfrm>
          <a:prstGeom prst="rect">
            <a:avLst/>
          </a:prstGeom>
          <a:solidFill>
            <a:srgbClr val="0B2E4F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5" name="Text 3"/>
          <p:cNvSpPr/>
          <p:nvPr/>
        </p:nvSpPr>
        <p:spPr>
          <a:xfrm>
            <a:off x="781050" y="1412875"/>
            <a:ext cx="4931196" cy="4020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kern="0" spc="6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РИСК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901532" y="1412875"/>
            <a:ext cx="4931196" cy="4020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kern="0" spc="6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ВОЗМОЖНЫЕ ПОСЛЕДСТВИЯ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022013" y="1412875"/>
            <a:ext cx="6689773" cy="4020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kern="0" spc="6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МЕРОПРИЯТИЯ ПО МИНИМИЗАЦИИ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09600" y="3156545"/>
            <a:ext cx="17068800" cy="12700"/>
          </a:xfrm>
          <a:prstGeom prst="rect">
            <a:avLst/>
          </a:prstGeom>
          <a:solidFill>
            <a:srgbClr val="D5DEE6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9" name="Text 7"/>
          <p:cNvSpPr/>
          <p:nvPr/>
        </p:nvSpPr>
        <p:spPr>
          <a:xfrm>
            <a:off x="781050" y="1995884"/>
            <a:ext cx="4931196" cy="11066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750"/>
              </a:lnSpc>
              <a:buNone/>
            </a:pPr>
            <a:r>
              <a:rPr lang="en-US" sz="1575" b="1" dirty="0">
                <a:solidFill>
                  <a:srgbClr val="0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Недостаточная полнота и качество исходных данных</a:t>
            </a:r>
            <a:endParaRPr lang="en-US" sz="1575" dirty="0"/>
          </a:p>
        </p:txBody>
      </p:sp>
      <p:sp>
        <p:nvSpPr>
          <p:cNvPr id="10" name="Text 8"/>
          <p:cNvSpPr/>
          <p:nvPr/>
        </p:nvSpPr>
        <p:spPr>
          <a:xfrm>
            <a:off x="5901532" y="1995884"/>
            <a:ext cx="4931196" cy="11066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706"/>
              </a:lnSpc>
              <a:buNone/>
            </a:pPr>
            <a:r>
              <a:rPr lang="en-US" sz="1500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Ограничение функциональности отдельных модулей и снижение качества аналитических расчётов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1022013" y="1995884"/>
            <a:ext cx="6689773" cy="11066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706"/>
              </a:lnSpc>
              <a:buNone/>
            </a:pPr>
            <a:r>
              <a:rPr lang="en-US" sz="1500" b="1" dirty="0">
                <a:solidFill>
                  <a:srgbClr val="1F5C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Предварительное обследование, верификация и подготовка исходных данных совместно с ДЗО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09600" y="3169246"/>
            <a:ext cx="17068800" cy="989409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3" name="Shape 11"/>
          <p:cNvSpPr/>
          <p:nvPr/>
        </p:nvSpPr>
        <p:spPr>
          <a:xfrm>
            <a:off x="609600" y="4145955"/>
            <a:ext cx="17068800" cy="12700"/>
          </a:xfrm>
          <a:prstGeom prst="rect">
            <a:avLst/>
          </a:prstGeom>
          <a:solidFill>
            <a:srgbClr val="D5DEE6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4" name="Text 12"/>
          <p:cNvSpPr/>
          <p:nvPr/>
        </p:nvSpPr>
        <p:spPr>
          <a:xfrm>
            <a:off x="781050" y="3274021"/>
            <a:ext cx="4931196" cy="8179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750"/>
              </a:lnSpc>
              <a:buNone/>
            </a:pPr>
            <a:r>
              <a:rPr lang="en-US" sz="1575" b="1" dirty="0">
                <a:solidFill>
                  <a:srgbClr val="0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Отсутствие или несвоевременная готовность интеграций</a:t>
            </a:r>
            <a:endParaRPr lang="en-US" sz="1575" dirty="0"/>
          </a:p>
        </p:txBody>
      </p:sp>
      <p:sp>
        <p:nvSpPr>
          <p:cNvPr id="15" name="Text 13"/>
          <p:cNvSpPr/>
          <p:nvPr/>
        </p:nvSpPr>
        <p:spPr>
          <a:xfrm>
            <a:off x="5901532" y="3274021"/>
            <a:ext cx="4931196" cy="8179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706"/>
              </a:lnSpc>
              <a:buNone/>
            </a:pPr>
            <a:r>
              <a:rPr lang="en-US" sz="1500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Перенос сроков ввода отдельных функций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1022013" y="3274021"/>
            <a:ext cx="6689773" cy="8179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706"/>
              </a:lnSpc>
              <a:buNone/>
            </a:pPr>
            <a:r>
              <a:rPr lang="en-US" sz="1500" b="1" dirty="0">
                <a:solidFill>
                  <a:srgbClr val="1F5C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Поэтапная реализация интеграций и согласование взаимодействия с владельцами корпоративных информационных систем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09600" y="5102424"/>
            <a:ext cx="17068800" cy="12700"/>
          </a:xfrm>
          <a:prstGeom prst="rect">
            <a:avLst/>
          </a:prstGeom>
          <a:solidFill>
            <a:srgbClr val="D5DEE6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8" name="Text 16"/>
          <p:cNvSpPr/>
          <p:nvPr/>
        </p:nvSpPr>
        <p:spPr>
          <a:xfrm>
            <a:off x="781050" y="4263430"/>
            <a:ext cx="4931196" cy="7850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750"/>
              </a:lnSpc>
              <a:buNone/>
            </a:pPr>
            <a:r>
              <a:rPr lang="en-US" sz="1575" b="1" dirty="0">
                <a:solidFill>
                  <a:srgbClr val="0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Ограничения вычислительной инфраструктуры</a:t>
            </a:r>
            <a:endParaRPr lang="en-US" sz="1575" dirty="0"/>
          </a:p>
        </p:txBody>
      </p:sp>
      <p:sp>
        <p:nvSpPr>
          <p:cNvPr id="19" name="Text 17"/>
          <p:cNvSpPr/>
          <p:nvPr/>
        </p:nvSpPr>
        <p:spPr>
          <a:xfrm>
            <a:off x="5901532" y="4263430"/>
            <a:ext cx="4931196" cy="7850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706"/>
              </a:lnSpc>
              <a:buNone/>
            </a:pPr>
            <a:r>
              <a:rPr lang="en-US" sz="1500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Снижение производительности программного комплекса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022013" y="4263430"/>
            <a:ext cx="6689773" cy="7850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706"/>
              </a:lnSpc>
              <a:buNone/>
            </a:pPr>
            <a:r>
              <a:rPr lang="en-US" sz="1500" b="1" dirty="0">
                <a:solidFill>
                  <a:srgbClr val="1F5C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Предварительная оценка инфраструктуры и обеспечение необходимыми вычислительными ресурсами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09600" y="5115124"/>
            <a:ext cx="17068800" cy="989409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22" name="Shape 20"/>
          <p:cNvSpPr/>
          <p:nvPr/>
        </p:nvSpPr>
        <p:spPr>
          <a:xfrm>
            <a:off x="609600" y="6091833"/>
            <a:ext cx="17068800" cy="12700"/>
          </a:xfrm>
          <a:prstGeom prst="rect">
            <a:avLst/>
          </a:prstGeom>
          <a:solidFill>
            <a:srgbClr val="D5DEE6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23" name="Text 21"/>
          <p:cNvSpPr/>
          <p:nvPr/>
        </p:nvSpPr>
        <p:spPr>
          <a:xfrm>
            <a:off x="781050" y="5219899"/>
            <a:ext cx="4931196" cy="8179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750"/>
              </a:lnSpc>
              <a:buNone/>
            </a:pPr>
            <a:r>
              <a:rPr lang="en-US" sz="1575" b="1" dirty="0">
                <a:solidFill>
                  <a:srgbClr val="0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Изменение бизнес-требований в ходе реализации проекта</a:t>
            </a:r>
            <a:endParaRPr lang="en-US" sz="1575" dirty="0"/>
          </a:p>
        </p:txBody>
      </p:sp>
      <p:sp>
        <p:nvSpPr>
          <p:cNvPr id="24" name="Text 22"/>
          <p:cNvSpPr/>
          <p:nvPr/>
        </p:nvSpPr>
        <p:spPr>
          <a:xfrm>
            <a:off x="5901532" y="5219899"/>
            <a:ext cx="4931196" cy="8179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706"/>
              </a:lnSpc>
              <a:buNone/>
            </a:pPr>
            <a:r>
              <a:rPr lang="en-US" sz="1500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Увеличение объёма работ и сроков реализации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1022013" y="5219899"/>
            <a:ext cx="6689773" cy="8179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706"/>
              </a:lnSpc>
              <a:buNone/>
            </a:pPr>
            <a:r>
              <a:rPr lang="en-US" sz="1500" b="1" dirty="0">
                <a:solidFill>
                  <a:srgbClr val="1F5C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Применение процедуры управления изменениями и согласование дополнительных требований в установленном порядке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609600" y="7081243"/>
            <a:ext cx="17068800" cy="12700"/>
          </a:xfrm>
          <a:prstGeom prst="rect">
            <a:avLst/>
          </a:prstGeom>
          <a:solidFill>
            <a:srgbClr val="D5DEE6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27" name="Text 25"/>
          <p:cNvSpPr/>
          <p:nvPr/>
        </p:nvSpPr>
        <p:spPr>
          <a:xfrm>
            <a:off x="781050" y="6209308"/>
            <a:ext cx="4931196" cy="8179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750"/>
              </a:lnSpc>
              <a:buNone/>
            </a:pPr>
            <a:r>
              <a:rPr lang="en-US" sz="1575" b="1" dirty="0">
                <a:solidFill>
                  <a:srgbClr val="0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Низкий уровень готовности пользователей к использованию новых цифровых инструментов</a:t>
            </a:r>
            <a:endParaRPr lang="en-US" sz="1575" dirty="0"/>
          </a:p>
        </p:txBody>
      </p:sp>
      <p:sp>
        <p:nvSpPr>
          <p:cNvPr id="28" name="Text 26"/>
          <p:cNvSpPr/>
          <p:nvPr/>
        </p:nvSpPr>
        <p:spPr>
          <a:xfrm>
            <a:off x="5901532" y="6209308"/>
            <a:ext cx="4931196" cy="8179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706"/>
              </a:lnSpc>
              <a:buNone/>
            </a:pPr>
            <a:r>
              <a:rPr lang="en-US" sz="1500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Увеличение периода адаптации при вводе в промышленную эксплуатацию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1022013" y="6209308"/>
            <a:ext cx="6689773" cy="8179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706"/>
              </a:lnSpc>
              <a:buNone/>
            </a:pPr>
            <a:r>
              <a:rPr lang="en-US" sz="1500" b="1" dirty="0">
                <a:solidFill>
                  <a:srgbClr val="1F5C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Проведение обучения пользователей, сопровождение опытно-промышленной эксплуатации и методологическая поддержка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609600" y="7093943"/>
            <a:ext cx="17068800" cy="2367558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31" name="Text 29"/>
          <p:cNvSpPr/>
          <p:nvPr/>
        </p:nvSpPr>
        <p:spPr>
          <a:xfrm>
            <a:off x="781050" y="7198718"/>
            <a:ext cx="4931196" cy="21961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750"/>
              </a:lnSpc>
              <a:buNone/>
            </a:pPr>
            <a:r>
              <a:rPr lang="en-US" sz="1575" b="1" dirty="0">
                <a:solidFill>
                  <a:srgbClr val="0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Зависимость расчётного контура ЦД от стороннего специализированного ПО (геологическое и гидродинамическое моделирование, обработка сейсмики), остающегося за периметром проекта, включая лицензионные и санкционные ограничения по нему</a:t>
            </a:r>
            <a:endParaRPr lang="en-US" sz="1575" dirty="0"/>
          </a:p>
        </p:txBody>
      </p:sp>
      <p:sp>
        <p:nvSpPr>
          <p:cNvPr id="32" name="Text 30"/>
          <p:cNvSpPr/>
          <p:nvPr/>
        </p:nvSpPr>
        <p:spPr>
          <a:xfrm>
            <a:off x="5901532" y="7198718"/>
            <a:ext cx="4931196" cy="21961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706"/>
              </a:lnSpc>
              <a:buNone/>
            </a:pPr>
            <a:r>
              <a:rPr lang="en-US" sz="1500" dirty="0">
                <a:solidFill>
                  <a:srgbClr val="1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Разрыв сквозного расчётного цикла, ручная передача моделей, расхождение версий и потеря истории адаптации; при прекращении лицензий — приостановка подготовки исходных данных для ЦД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11022013" y="7198718"/>
            <a:ext cx="6689773" cy="21961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706"/>
              </a:lnSpc>
              <a:buNone/>
            </a:pPr>
            <a:r>
              <a:rPr lang="en-US" sz="1500" b="1" dirty="0">
                <a:solidFill>
                  <a:srgbClr val="1F5C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Инвентаризация стороннего ПО и моделей по каждому активу; требование к импорту/экспорту в открытых и отраслевых форматах в договоре с поставщиком; приёмочные испытания переноса моделей на пилоте; мониторинг лицензионного статуса совместно с КМГИ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609600" y="9594850"/>
            <a:ext cx="17068800" cy="12700"/>
          </a:xfrm>
          <a:prstGeom prst="rect">
            <a:avLst/>
          </a:prstGeom>
          <a:solidFill>
            <a:srgbClr val="D5DEE6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35" name="Text 33"/>
          <p:cNvSpPr/>
          <p:nvPr/>
        </p:nvSpPr>
        <p:spPr>
          <a:xfrm>
            <a:off x="17500402" y="9721850"/>
            <a:ext cx="254198" cy="241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849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2E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533400"/>
            <a:ext cx="18105120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kern="0" spc="240" dirty="0">
                <a:solidFill>
                  <a:srgbClr val="B9CB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ПРОЕКТ РЕШЕНИЯ АТК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14400" y="920750"/>
            <a:ext cx="15893415" cy="1043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471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Утвердить проект внедрения «Цифрового двойника месторождения» в периметре 12 приоритетных активов и 7 ДЗО АО НК «КазМунайГаз» на 2026–2028 годы.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14400" y="2878931"/>
            <a:ext cx="14287500" cy="12700"/>
          </a:xfrm>
          <a:prstGeom prst="rect">
            <a:avLst/>
          </a:prstGeom>
          <a:solidFill>
            <a:srgbClr val="FFFFFF">
              <a:alpha val="22000"/>
            </a:srgbClr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5" name="Text 3"/>
          <p:cNvSpPr/>
          <p:nvPr/>
        </p:nvSpPr>
        <p:spPr>
          <a:xfrm>
            <a:off x="914400" y="2421731"/>
            <a:ext cx="680098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Цифровые двойники — прикладное ПО, 6 модулей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3397905" y="2421731"/>
            <a:ext cx="1984395" cy="3429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7 748 425 240 ₸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914400" y="3501231"/>
            <a:ext cx="14287500" cy="12700"/>
          </a:xfrm>
          <a:prstGeom prst="rect">
            <a:avLst/>
          </a:prstGeom>
          <a:solidFill>
            <a:srgbClr val="FFFFFF">
              <a:alpha val="22000"/>
            </a:srgbClr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8" name="Text 6"/>
          <p:cNvSpPr/>
          <p:nvPr/>
        </p:nvSpPr>
        <p:spPr>
          <a:xfrm>
            <a:off x="914400" y="3044031"/>
            <a:ext cx="464109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Единый слой данных и интеграции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3397905" y="3044031"/>
            <a:ext cx="1984395" cy="3429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2 329 510 456 ₸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914400" y="4123531"/>
            <a:ext cx="14287500" cy="12700"/>
          </a:xfrm>
          <a:prstGeom prst="rect">
            <a:avLst/>
          </a:prstGeom>
          <a:solidFill>
            <a:srgbClr val="FFFFFF">
              <a:alpha val="22000"/>
            </a:srgbClr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1" name="Text 9"/>
          <p:cNvSpPr/>
          <p:nvPr/>
        </p:nvSpPr>
        <p:spPr>
          <a:xfrm>
            <a:off x="914400" y="3666331"/>
            <a:ext cx="5564207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Инфраструктура и консалтинг внедрения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3397905" y="3666331"/>
            <a:ext cx="1984395" cy="3429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1 087 215 561 ₸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914400" y="4745831"/>
            <a:ext cx="14287500" cy="12700"/>
          </a:xfrm>
          <a:prstGeom prst="rect">
            <a:avLst/>
          </a:prstGeom>
          <a:solidFill>
            <a:srgbClr val="FFFFFF">
              <a:alpha val="22000"/>
            </a:srgbClr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4" name="Text 12"/>
          <p:cNvSpPr/>
          <p:nvPr/>
        </p:nvSpPr>
        <p:spPr>
          <a:xfrm>
            <a:off x="914400" y="4288631"/>
            <a:ext cx="557141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Концепция трансформации (за счёт ДЗО)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13397905" y="4288631"/>
            <a:ext cx="1984395" cy="3429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3 284 900 000 ₸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914400" y="4910932"/>
            <a:ext cx="285577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Модернизация АСДЦ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13604479" y="4910932"/>
            <a:ext cx="1757164" cy="3429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580 376 078 ₸</a:t>
            </a:r>
            <a:endParaRPr lang="en-US" sz="1950" dirty="0"/>
          </a:p>
        </p:txBody>
      </p:sp>
      <p:sp>
        <p:nvSpPr>
          <p:cNvPr id="18" name="Shape 16"/>
          <p:cNvSpPr/>
          <p:nvPr/>
        </p:nvSpPr>
        <p:spPr>
          <a:xfrm>
            <a:off x="914400" y="5577682"/>
            <a:ext cx="14287500" cy="8509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9" name="Text 17"/>
          <p:cNvSpPr/>
          <p:nvPr/>
        </p:nvSpPr>
        <p:spPr>
          <a:xfrm>
            <a:off x="1181100" y="5857081"/>
            <a:ext cx="7777798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0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ИТОГО — общая потребность в финансировании программы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11948121" y="5787232"/>
            <a:ext cx="3285788" cy="4699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15 030 427 335 ₸</a:t>
            </a:r>
            <a:endParaRPr lang="en-US" sz="3000" dirty="0"/>
          </a:p>
        </p:txBody>
      </p:sp>
      <p:sp>
        <p:nvSpPr>
          <p:cNvPr id="21" name="Shape 19"/>
          <p:cNvSpPr/>
          <p:nvPr/>
        </p:nvSpPr>
        <p:spPr>
          <a:xfrm>
            <a:off x="914400" y="9518650"/>
            <a:ext cx="16459200" cy="12700"/>
          </a:xfrm>
          <a:prstGeom prst="rect">
            <a:avLst/>
          </a:prstGeom>
          <a:solidFill>
            <a:srgbClr val="FFFFFF">
              <a:alpha val="22000"/>
            </a:srgbClr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22" name="Text 20"/>
          <p:cNvSpPr/>
          <p:nvPr/>
        </p:nvSpPr>
        <p:spPr>
          <a:xfrm>
            <a:off x="17234099" y="9664700"/>
            <a:ext cx="215702" cy="241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B9CB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2695</Words>
  <Application>Microsoft Macintosh PowerPoint</Application>
  <PresentationFormat>Произвольный</PresentationFormat>
  <Paragraphs>324</Paragraphs>
  <Slides>11</Slides>
  <Notes>11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3" baseType="lpstr">
      <vt:lpstr>Arial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Aisen Zhylkybay</cp:lastModifiedBy>
  <cp:revision>1</cp:revision>
  <dcterms:created xsi:type="dcterms:W3CDTF">2026-08-06T11:27:09Z</dcterms:created>
  <dcterms:modified xsi:type="dcterms:W3CDTF">2026-08-06T11:39:24Z</dcterms:modified>
</cp:coreProperties>
</file>